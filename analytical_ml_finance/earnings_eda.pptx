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Transcripts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10904</c:v>
                </c:pt>
                <c:pt idx="1">
                  <c:v>12466</c:v>
                </c:pt>
                <c:pt idx="2">
                  <c:v>12116</c:v>
                </c:pt>
                <c:pt idx="3">
                  <c:v>11767</c:v>
                </c:pt>
                <c:pt idx="4">
                  <c:v>11805</c:v>
                </c:pt>
                <c:pt idx="5">
                  <c:v>11531</c:v>
                </c:pt>
                <c:pt idx="6">
                  <c:v>11199</c:v>
                </c:pt>
                <c:pt idx="7">
                  <c:v>11749</c:v>
                </c:pt>
                <c:pt idx="8">
                  <c:v>11913</c:v>
                </c:pt>
                <c:pt idx="9">
                  <c:v>11859</c:v>
                </c:pt>
                <c:pt idx="10">
                  <c:v>11926</c:v>
                </c:pt>
                <c:pt idx="11">
                  <c:v>12448</c:v>
                </c:pt>
                <c:pt idx="12">
                  <c:v>12966</c:v>
                </c:pt>
                <c:pt idx="13">
                  <c:v>12687</c:v>
                </c:pt>
                <c:pt idx="14">
                  <c:v>12027</c:v>
                </c:pt>
                <c:pt idx="15">
                  <c:v>11598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D2-2046-ACD1-1844B045F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</c:v>
                </c:pt>
              </c:strCache>
            </c:strRef>
          </c:tx>
          <c:spPr>
            <a:ln w="38100" cap="flat">
              <a:solidFill>
                <a:srgbClr val="EB001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B001B"/>
              </a:solidFill>
              <a:ln w="9525" cap="flat">
                <a:solidFill>
                  <a:srgbClr val="EB001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0.66</c:v>
                </c:pt>
                <c:pt idx="1">
                  <c:v>0.41</c:v>
                </c:pt>
                <c:pt idx="2">
                  <c:v>2.36</c:v>
                </c:pt>
                <c:pt idx="3">
                  <c:v>6.76</c:v>
                </c:pt>
                <c:pt idx="4">
                  <c:v>4.6399999999999997</c:v>
                </c:pt>
                <c:pt idx="5">
                  <c:v>2.19</c:v>
                </c:pt>
                <c:pt idx="6">
                  <c:v>1.91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BD0-BD4B-8C72-449427710A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uncertainty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0.74</c:v>
                </c:pt>
                <c:pt idx="1">
                  <c:v>2.63</c:v>
                </c:pt>
                <c:pt idx="2">
                  <c:v>1.06</c:v>
                </c:pt>
                <c:pt idx="3">
                  <c:v>1.22</c:v>
                </c:pt>
                <c:pt idx="4">
                  <c:v>1.0900000000000001</c:v>
                </c:pt>
                <c:pt idx="5">
                  <c:v>0.7</c:v>
                </c:pt>
                <c:pt idx="6">
                  <c:v>1.59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BD0-BD4B-8C72-449427710A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guidance</c:v>
                </c:pt>
              </c:strCache>
            </c:strRef>
          </c:tx>
          <c:spPr>
            <a:ln w="381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7.82</c:v>
                </c:pt>
                <c:pt idx="1">
                  <c:v>7.36</c:v>
                </c:pt>
                <c:pt idx="2">
                  <c:v>6.69</c:v>
                </c:pt>
                <c:pt idx="3">
                  <c:v>7.32</c:v>
                </c:pt>
                <c:pt idx="4">
                  <c:v>7.66</c:v>
                </c:pt>
                <c:pt idx="5">
                  <c:v>7.15</c:v>
                </c:pt>
                <c:pt idx="6">
                  <c:v>6.9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BD0-BD4B-8C72-449427710A1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60A5F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22.87</c:v>
                </c:pt>
                <c:pt idx="1">
                  <c:v>23.87</c:v>
                </c:pt>
                <c:pt idx="2">
                  <c:v>25.65</c:v>
                </c:pt>
                <c:pt idx="3">
                  <c:v>24.3</c:v>
                </c:pt>
                <c:pt idx="4">
                  <c:v>25.28</c:v>
                </c:pt>
                <c:pt idx="5">
                  <c:v>25.53</c:v>
                </c:pt>
                <c:pt idx="6">
                  <c:v>24.07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BD0-BD4B-8C72-449427710A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8"/>
        </a:solidFill>
        <a:ln>
          <a:noFill/>
        </a:ln>
        <a:effectLst/>
      </c:spPr>
    </c:plotArea>
    <c:legend>
      <c:legendPos val="b"/>
      <c:overlay val="0"/>
      <c:spPr>
        <a:solidFill>
          <a:schemeClr val="bg1"/>
        </a:solidFill>
      </c:spPr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A1A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Forward-Looking Sentences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15.05</c:v>
                </c:pt>
                <c:pt idx="1">
                  <c:v>15.01</c:v>
                </c:pt>
                <c:pt idx="2">
                  <c:v>14.81</c:v>
                </c:pt>
                <c:pt idx="3">
                  <c:v>14.58</c:v>
                </c:pt>
                <c:pt idx="4">
                  <c:v>14.5</c:v>
                </c:pt>
                <c:pt idx="5">
                  <c:v>14.01</c:v>
                </c:pt>
                <c:pt idx="6">
                  <c:v>13.75</c:v>
                </c:pt>
                <c:pt idx="7">
                  <c:v>13.61</c:v>
                </c:pt>
                <c:pt idx="8">
                  <c:v>13.99</c:v>
                </c:pt>
                <c:pt idx="9">
                  <c:v>14.51</c:v>
                </c:pt>
                <c:pt idx="10">
                  <c:v>13.4</c:v>
                </c:pt>
                <c:pt idx="11">
                  <c:v>13.12</c:v>
                </c:pt>
                <c:pt idx="12">
                  <c:v>13.28</c:v>
                </c:pt>
                <c:pt idx="13">
                  <c:v>13.62</c:v>
                </c:pt>
                <c:pt idx="14">
                  <c:v>13.64</c:v>
                </c:pt>
                <c:pt idx="15">
                  <c:v>13.62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A44-294E-B5AC-830A91913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12"/>
        </c:scaling>
        <c:delete val="0"/>
        <c:axPos val="l"/>
        <c:majorGridlines>
          <c:spPr>
            <a:ln w="6350" cap="flat">
              <a:solidFill>
                <a:srgbClr val="2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Sentiment (LM)</c:v>
                </c:pt>
              </c:strCache>
            </c:strRef>
          </c:tx>
          <c:spPr>
            <a:ln w="38100" cap="flat">
              <a:solidFill>
                <a:srgbClr val="34D3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0.32440000000000002</c:v>
                </c:pt>
                <c:pt idx="1">
                  <c:v>0.21029999999999999</c:v>
                </c:pt>
                <c:pt idx="2">
                  <c:v>-9.4E-2</c:v>
                </c:pt>
                <c:pt idx="3">
                  <c:v>2.23E-2</c:v>
                </c:pt>
                <c:pt idx="4">
                  <c:v>0.1181</c:v>
                </c:pt>
                <c:pt idx="5">
                  <c:v>9.7000000000000003E-2</c:v>
                </c:pt>
                <c:pt idx="6">
                  <c:v>9.5200000000000007E-2</c:v>
                </c:pt>
                <c:pt idx="7">
                  <c:v>0.12820000000000001</c:v>
                </c:pt>
                <c:pt idx="8">
                  <c:v>0.16189999999999999</c:v>
                </c:pt>
                <c:pt idx="9">
                  <c:v>0.12670000000000001</c:v>
                </c:pt>
                <c:pt idx="10">
                  <c:v>0.15440000000000001</c:v>
                </c:pt>
                <c:pt idx="11">
                  <c:v>0.19900000000000001</c:v>
                </c:pt>
                <c:pt idx="12">
                  <c:v>0.24610000000000001</c:v>
                </c:pt>
                <c:pt idx="13">
                  <c:v>0.20480000000000001</c:v>
                </c:pt>
                <c:pt idx="14">
                  <c:v>0.1171</c:v>
                </c:pt>
                <c:pt idx="15">
                  <c:v>0.2616</c:v>
                </c:pt>
                <c:pt idx="16">
                  <c:v>0.1376</c:v>
                </c:pt>
                <c:pt idx="17">
                  <c:v>0.2145</c:v>
                </c:pt>
                <c:pt idx="18">
                  <c:v>0.28120000000000001</c:v>
                </c:pt>
                <c:pt idx="19">
                  <c:v>0.28239999999999998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438-5F49-9307-D31347D4F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Return (%)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Sheet1!$A$2:$A$20</c:f>
              <c:strCache>
                <c:ptCount val="19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-0.35799999999999998</c:v>
                </c:pt>
                <c:pt idx="1">
                  <c:v>6.6000000000000003E-2</c:v>
                </c:pt>
                <c:pt idx="2">
                  <c:v>-0.13900000000000001</c:v>
                </c:pt>
                <c:pt idx="3">
                  <c:v>0.38700000000000001</c:v>
                </c:pt>
                <c:pt idx="4">
                  <c:v>4.0000000000000001E-3</c:v>
                </c:pt>
                <c:pt idx="5">
                  <c:v>-1.2E-2</c:v>
                </c:pt>
                <c:pt idx="6">
                  <c:v>-5.8000000000000003E-2</c:v>
                </c:pt>
                <c:pt idx="7">
                  <c:v>0.05</c:v>
                </c:pt>
                <c:pt idx="8">
                  <c:v>-0.10199999999999999</c:v>
                </c:pt>
                <c:pt idx="9">
                  <c:v>-0.124</c:v>
                </c:pt>
                <c:pt idx="10">
                  <c:v>5.0000000000000001E-3</c:v>
                </c:pt>
                <c:pt idx="11">
                  <c:v>2E-3</c:v>
                </c:pt>
                <c:pt idx="12">
                  <c:v>9.5000000000000001E-2</c:v>
                </c:pt>
                <c:pt idx="13">
                  <c:v>-0.156</c:v>
                </c:pt>
                <c:pt idx="14">
                  <c:v>0.33500000000000002</c:v>
                </c:pt>
                <c:pt idx="15">
                  <c:v>0.14099999999999999</c:v>
                </c:pt>
                <c:pt idx="16">
                  <c:v>-0.152</c:v>
                </c:pt>
                <c:pt idx="17">
                  <c:v>5.1999999999999998E-2</c:v>
                </c:pt>
                <c:pt idx="18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F0-2945-AAA9-844072723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4271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45620" y="731520"/>
            <a:ext cx="46983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A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 ·  Documentation, Validation &amp; EDA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1A1A28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S&amp;P 500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37490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1A1A28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37490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1A1A28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LDA · Sentiment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Documentation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965960" cy="118872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190k+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Transcripts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51560"/>
            <a:ext cx="1965960" cy="118872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1612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Firms (NLP)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1965960" cy="118872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1612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6280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1051560"/>
            <a:ext cx="1965960" cy="118872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16128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29400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PERMNO Match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423160"/>
            <a:ext cx="4114800" cy="713232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2496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3192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aggregated_all_years.csv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423160"/>
            <a:ext cx="4114800" cy="713232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2496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TEXT FIELD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6592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full_transcript_text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264408"/>
            <a:ext cx="4114800" cy="713232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3192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next-day open prices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3264408"/>
            <a:ext cx="4114800" cy="713232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6592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36592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CRSP PERMNO for CRSP/Compustat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heavy NLP operations (LDA, TF-IDF, Sentiment) restricted to top-50 S&amp;P 500 firms by index weight.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Coverage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 · Transcripts by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32004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51560"/>
          <a:ext cx="85039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43159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 · ~190k transcripts across 20 years  ·  NLP scope: top-50 S&amp;P 500 firms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Word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 · Most Frequent Terms After Stopword Removal · Full Corpus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5742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4791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2860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26517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45920" y="347472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0" y="3566160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3602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28600" y="4526280"/>
            <a:ext cx="2011680" cy="457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4562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150,997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4526280"/>
            <a:ext cx="2011680" cy="457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1460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562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92,640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4526280"/>
            <a:ext cx="2011680" cy="457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4562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77,056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4526280"/>
            <a:ext cx="2011680" cy="457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26680" y="45628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51,985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 · % of Keyword Tokens Over Time · Top-50 Corpus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324612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246131885"/>
              </p:ext>
            </p:extLst>
          </p:nvPr>
        </p:nvGraphicFramePr>
        <p:xfrm>
          <a:off x="320040" y="1051560"/>
          <a:ext cx="85039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46520" y="1801368"/>
            <a:ext cx="2331720" cy="640080"/>
          </a:xfrm>
          <a:prstGeom prst="rect">
            <a:avLst/>
          </a:prstGeom>
          <a:solidFill>
            <a:srgbClr val="1A1A28"/>
          </a:solidFill>
          <a:ln w="12700">
            <a:solidFill>
              <a:srgbClr val="EB00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85623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peaked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6.76% in 2022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Firm-Distinctive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 · Top Terms — Frequent Within Firm, Rare Corpus-Wide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124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435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 ·  gpu  ·  nvidia  ·  geforce  ·  tegra  ·  quadro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28416" y="1124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28416" y="1435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vocalink  ·  debit  ·  gdv  ·  mastercard  ·  sachin  ·  martina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08776" y="1051560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18504" y="11247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18504" y="14356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 ·  mac  ·  ipad  ·  macbook  ·  macs  ·  luca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395728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LRCX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" y="27797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wafer  ·  foundry  ·  etch  ·  dram  ·  wfe  ·  lam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2395728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28416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28416" y="27797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·  copilot  ·  windows  ·  xbox  ·  linkedin  ·  satya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2395728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18504" y="24688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8504" y="277977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keytruda  ·  gardasil  ·  januvia  ·  cancer  ·  oncology  ·  patients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739896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" y="3813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" y="4123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 ·  netflix  ·  subscriber  ·  originals  ·  dvd  ·  reed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8688" y="3739896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3813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28416" y="4123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optum  ·  medicare  ·  medicaid  ·  optumrx  ·  unitedhealth  ·  optumhealth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08776" y="3739896"/>
            <a:ext cx="2834640" cy="12344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18504" y="3813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18504" y="41239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  ·  aviation  ·  alstom  ·  cfoa  ·  renewables  ·  immelt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" y="44622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TF-IDF terms per firm  ·  Signature vocabulary reflects sector and product focus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Discovery  (k=12)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3.5 · Latent Dirichlet Allocation · Top-50 Corpus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38328" y="116128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116128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Computing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32888" y="1161288"/>
            <a:ext cx="347472" cy="34747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3288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53512" y="116128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Payments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27448" y="116128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48072" y="116128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Broadband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05156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22008" y="1161288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2200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42632" y="116128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" y="2441448"/>
            <a:ext cx="347472" cy="3474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" y="24414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233172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32888" y="2441448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32888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53512" y="24414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33172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27448" y="2441448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27448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48072" y="24414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233172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22008" y="244144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22008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42632" y="24414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Retail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361188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38328" y="3721608"/>
            <a:ext cx="347472" cy="34747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832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372160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Pharma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23160" y="361188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32888" y="372160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3288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53512" y="372160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361188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27448" y="3721608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2744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48072" y="372160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12280" y="3611880"/>
            <a:ext cx="205740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22008" y="3721608"/>
            <a:ext cx="347472" cy="3474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2200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42632" y="372160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Tech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" y="44622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represents co-occurring word clusters  ·  Labels are interpretive based on top-β terms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3.7 · % Sentences Containing Prospective Language · Top-50 Corpus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2743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51560"/>
          <a:ext cx="8503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· anticipate · guidance · forecast · outlook  (+10 more)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18688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55848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DROP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55848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 — lowest year, likely reflects COVID uncertainty suppressing forward guidance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08776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45936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345936" y="4133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decline 2010→2021 followed by stabilisation around 13.5–14.5%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Loughran-McDonald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3.8 · Net Sentiment (positive − negative) / total · Top-50 Corpus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26060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51560"/>
          <a:ext cx="8503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730752"/>
            <a:ext cx="2834640" cy="7772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3767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-0.094  ·  GFC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3730752"/>
            <a:ext cx="2834640" cy="7772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55848" y="3767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355848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+0.117  ·  COVID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08776" y="3730752"/>
            <a:ext cx="2834640" cy="77724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45936" y="3767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45936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+0.138  ·  Rates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8600" y="46177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lexicon purpose-built for financial text  ·  Negative dips cluster with macro stress periods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Reaction — Close-to-Open Return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3.9 · Mean Overnight Return on Earnings Day · Top-50 Firms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22860"/>
          </a:xfrm>
          <a:prstGeom prst="rect">
            <a:avLst/>
          </a:prstGeom>
          <a:solidFill>
            <a:srgbClr val="2A2A42"/>
          </a:solidFill>
          <a:ln w="12700">
            <a:solidFill>
              <a:srgbClr val="2A2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27432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051560"/>
          <a:ext cx="8503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 +0.387%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Post-GFC earnings optimism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18688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55848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 +0.335%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55848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&amp; recovery beats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08776" y="3840480"/>
            <a:ext cx="2834640" cy="86868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45936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−0.152%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45936" y="4206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shock guidance cuts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111556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109728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190k+ Transcripts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141732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panel from 2006–2026 with 99.8% PERMNO match rate, enabling CRSP/Compustat integration.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1115568"/>
            <a:ext cx="384048" cy="384048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097280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0368" y="1417320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keyword share spiked from 0.4% (2020) to 6.8% (2022) — a clear macro signal in raw text.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67712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" y="237744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235915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LDA Topics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" y="2679192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economic themes emerge: Software, Payments, Healthcare, Banking, Media, and more.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237744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35915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Signal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679192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net sentiment dips in 2008 and 2022 coincide with documented market stress periods.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29584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" y="3639312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" y="3621024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" y="3941064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and 2020 show highest post-call returns (+0.39%, +0.34%) reflecting guidance optimism.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529584"/>
            <a:ext cx="4251960" cy="1143000"/>
          </a:xfrm>
          <a:prstGeom prst="rect">
            <a:avLst/>
          </a:prstGeom>
          <a:solidFill>
            <a:srgbClr val="1A1A28"/>
          </a:solidFill>
          <a:ln w="9525">
            <a:solidFill>
              <a:srgbClr val="2A2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73168" y="3639312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3621024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Next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3941064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FinBERT scoring planned to validate LM lexicon signal with contextual NLP.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690</Words>
  <Application>Microsoft Macintosh PowerPoint</Application>
  <PresentationFormat>On-screen Show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Earnings Call Transcript Analysis</dc:title>
  <dc:subject>PptxGenJS Presentation</dc:subject>
  <dc:creator>Assignment 1</dc:creator>
  <cp:lastModifiedBy>Garland, Zachary K</cp:lastModifiedBy>
  <cp:revision>2</cp:revision>
  <dcterms:created xsi:type="dcterms:W3CDTF">2026-03-26T20:53:50Z</dcterms:created>
  <dcterms:modified xsi:type="dcterms:W3CDTF">2026-03-26T20:58:40Z</dcterms:modified>
</cp:coreProperties>
</file>