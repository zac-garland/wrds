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6" r:id="rId6"/>
    <p:sldId id="260" r:id="rId7"/>
    <p:sldId id="268" r:id="rId8"/>
    <p:sldId id="261" r:id="rId9"/>
    <p:sldId id="262" r:id="rId10"/>
    <p:sldId id="263"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85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166" d="100"/>
          <a:sy n="166" d="100"/>
        </p:scale>
        <p:origin x="20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786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6F317-FEE3-7B20-B467-FADD1A527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30CD9-8BA5-1D73-9CE3-FB96F078E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2271E-9D7C-A480-56FC-B384AD6974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2D96A6-DB0D-C9DF-C5D0-40D85CF192A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86376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C5C68"/>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985A1"/>
          </a:solidFill>
          <a:ln w="12700">
            <a:solidFill>
              <a:srgbClr val="1985A1"/>
            </a:solidFill>
            <a:prstDash val="solid"/>
          </a:ln>
        </p:spPr>
        <p:txBody>
          <a:bodyPr/>
          <a:lstStyle/>
          <a:p>
            <a:endParaRPr lang="en-US"/>
          </a:p>
        </p:txBody>
      </p:sp>
      <p:sp>
        <p:nvSpPr>
          <p:cNvPr id="3" name="Shape 1"/>
          <p:cNvSpPr/>
          <p:nvPr/>
        </p:nvSpPr>
        <p:spPr>
          <a:xfrm>
            <a:off x="0" y="4663440"/>
            <a:ext cx="9144000" cy="480060"/>
          </a:xfrm>
          <a:prstGeom prst="rect">
            <a:avLst/>
          </a:prstGeom>
          <a:solidFill>
            <a:srgbClr val="46494C"/>
          </a:solidFill>
          <a:ln w="12700">
            <a:solidFill>
              <a:srgbClr val="46494C"/>
            </a:solidFill>
            <a:prstDash val="solid"/>
          </a:ln>
        </p:spPr>
        <p:txBody>
          <a:bodyPr/>
          <a:lstStyle/>
          <a:p>
            <a:endParaRPr lang="en-US"/>
          </a:p>
        </p:txBody>
      </p:sp>
      <p:sp>
        <p:nvSpPr>
          <p:cNvPr id="4" name="Text 2"/>
          <p:cNvSpPr/>
          <p:nvPr/>
        </p:nvSpPr>
        <p:spPr>
          <a:xfrm>
            <a:off x="685800" y="292608"/>
            <a:ext cx="8229600" cy="329184"/>
          </a:xfrm>
          <a:prstGeom prst="rect">
            <a:avLst/>
          </a:prstGeom>
          <a:noFill/>
          <a:ln/>
        </p:spPr>
        <p:txBody>
          <a:bodyPr wrap="square" lIns="0" tIns="0" rIns="0" bIns="0" rtlCol="0" anchor="ctr"/>
          <a:lstStyle/>
          <a:p>
            <a:pPr marL="0" indent="0">
              <a:buNone/>
            </a:pPr>
            <a:r>
              <a:rPr lang="en-US" sz="1100" kern="0" spc="100" dirty="0">
                <a:solidFill>
                  <a:srgbClr val="C5C3C6"/>
                </a:solidFill>
                <a:latin typeface="Calibri" pitchFamily="34" charset="0"/>
                <a:ea typeface="Calibri" pitchFamily="34" charset="-122"/>
                <a:cs typeface="Calibri" pitchFamily="34" charset="-120"/>
              </a:rPr>
              <a:t>University of Texas at Austin  ·  McCombs School of Business  ·  FIN 285F</a:t>
            </a:r>
            <a:endParaRPr lang="en-US" sz="1100" dirty="0"/>
          </a:p>
        </p:txBody>
      </p:sp>
      <p:sp>
        <p:nvSpPr>
          <p:cNvPr id="5" name="Text 3"/>
          <p:cNvSpPr/>
          <p:nvPr/>
        </p:nvSpPr>
        <p:spPr>
          <a:xfrm>
            <a:off x="685800" y="914400"/>
            <a:ext cx="8046720" cy="1170432"/>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Novelty-Driven Mean Reversion</a:t>
            </a:r>
            <a:endParaRPr lang="en-US" sz="4000" dirty="0"/>
          </a:p>
        </p:txBody>
      </p:sp>
      <p:sp>
        <p:nvSpPr>
          <p:cNvPr id="6" name="Text 4"/>
          <p:cNvSpPr/>
          <p:nvPr/>
        </p:nvSpPr>
        <p:spPr>
          <a:xfrm>
            <a:off x="685800" y="2057400"/>
            <a:ext cx="7772400" cy="548640"/>
          </a:xfrm>
          <a:prstGeom prst="rect">
            <a:avLst/>
          </a:prstGeom>
          <a:noFill/>
          <a:ln/>
        </p:spPr>
        <p:txBody>
          <a:bodyPr wrap="square" lIns="0" tIns="0" rIns="0" bIns="0" rtlCol="0" anchor="ctr"/>
          <a:lstStyle/>
          <a:p>
            <a:pPr marL="0" indent="0">
              <a:buNone/>
            </a:pPr>
            <a:r>
              <a:rPr lang="en-US" sz="1800" i="1" dirty="0">
                <a:solidFill>
                  <a:srgbClr val="DCDCDD"/>
                </a:solidFill>
                <a:latin typeface="Calibri" pitchFamily="34" charset="0"/>
                <a:ea typeface="Calibri" pitchFamily="34" charset="-122"/>
                <a:cs typeface="Calibri" pitchFamily="34" charset="-120"/>
              </a:rPr>
              <a:t>A Portfolio Sort Study of Earnings Conference Call Text Analytics</a:t>
            </a:r>
            <a:endParaRPr lang="en-US" sz="1800" dirty="0"/>
          </a:p>
        </p:txBody>
      </p:sp>
      <p:sp>
        <p:nvSpPr>
          <p:cNvPr id="7" name="Shape 5"/>
          <p:cNvSpPr/>
          <p:nvPr/>
        </p:nvSpPr>
        <p:spPr>
          <a:xfrm>
            <a:off x="685800" y="2743200"/>
            <a:ext cx="2011680" cy="45720"/>
          </a:xfrm>
          <a:prstGeom prst="rect">
            <a:avLst/>
          </a:prstGeom>
          <a:solidFill>
            <a:srgbClr val="1985A1"/>
          </a:solidFill>
          <a:ln w="12700">
            <a:solidFill>
              <a:srgbClr val="1985A1"/>
            </a:solidFill>
            <a:prstDash val="solid"/>
          </a:ln>
        </p:spPr>
        <p:txBody>
          <a:bodyPr/>
          <a:lstStyle/>
          <a:p>
            <a:endParaRPr lang="en-US"/>
          </a:p>
        </p:txBody>
      </p:sp>
      <p:sp>
        <p:nvSpPr>
          <p:cNvPr id="8" name="Text 6"/>
          <p:cNvSpPr/>
          <p:nvPr/>
        </p:nvSpPr>
        <p:spPr>
          <a:xfrm>
            <a:off x="685800" y="2880360"/>
            <a:ext cx="5486400" cy="822960"/>
          </a:xfrm>
          <a:prstGeom prst="rect">
            <a:avLst/>
          </a:prstGeom>
          <a:noFill/>
          <a:ln/>
        </p:spPr>
        <p:txBody>
          <a:bodyPr wrap="square" lIns="0" tIns="0" rIns="0" bIns="0" rtlCol="0" anchor="ctr"/>
          <a:lstStyle/>
          <a:p>
            <a:pPr marL="0" indent="0">
              <a:buNone/>
            </a:pPr>
            <a:r>
              <a:rPr lang="en-US" sz="1400" b="1" dirty="0">
                <a:solidFill>
                  <a:srgbClr val="DCDCDD"/>
                </a:solidFill>
                <a:latin typeface="Calibri" pitchFamily="34" charset="0"/>
                <a:ea typeface="Calibri" pitchFamily="34" charset="-122"/>
                <a:cs typeface="Calibri" pitchFamily="34" charset="-120"/>
              </a:rPr>
              <a:t>Zac Garland  &amp;  Ryota Yokoyama</a:t>
            </a:r>
            <a:endParaRPr lang="en-US" sz="1400" dirty="0"/>
          </a:p>
          <a:p>
            <a:pPr marL="0" indent="0">
              <a:buNone/>
            </a:pPr>
            <a:r>
              <a:rPr lang="en-US" sz="1400" dirty="0">
                <a:solidFill>
                  <a:srgbClr val="C5C3C6"/>
                </a:solidFill>
                <a:latin typeface="Calibri" pitchFamily="34" charset="0"/>
                <a:ea typeface="Calibri" pitchFamily="34" charset="-122"/>
                <a:cs typeface="Calibri" pitchFamily="34" charset="-120"/>
              </a:rPr>
              <a:t>April 2026</a:t>
            </a:r>
            <a:endParaRPr lang="en-US" sz="1400" dirty="0"/>
          </a:p>
        </p:txBody>
      </p:sp>
      <p:sp>
        <p:nvSpPr>
          <p:cNvPr id="9" name="Text 7"/>
          <p:cNvSpPr/>
          <p:nvPr/>
        </p:nvSpPr>
        <p:spPr>
          <a:xfrm>
            <a:off x="685800" y="4700016"/>
            <a:ext cx="7772400" cy="320040"/>
          </a:xfrm>
          <a:prstGeom prst="rect">
            <a:avLst/>
          </a:prstGeom>
          <a:noFill/>
          <a:ln/>
        </p:spPr>
        <p:txBody>
          <a:bodyPr wrap="square" lIns="0" tIns="0" rIns="0" bIns="0" rtlCol="0" anchor="ctr"/>
          <a:lstStyle/>
          <a:p>
            <a:pPr marL="0" indent="0">
              <a:buNone/>
            </a:pPr>
            <a:r>
              <a:rPr lang="en-US" sz="1050" dirty="0">
                <a:solidFill>
                  <a:srgbClr val="C5C3C6"/>
                </a:solidFill>
                <a:latin typeface="Calibri" pitchFamily="34" charset="0"/>
                <a:ea typeface="Calibri" pitchFamily="34" charset="-122"/>
                <a:cs typeface="Calibri" pitchFamily="34" charset="-120"/>
              </a:rPr>
              <a:t>181,305  ·  S&amp;P 500 universe (Hypotheses Validation)  ·  2005–2025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Research Question &amp; Hypotheses</a:t>
            </a:r>
            <a:endParaRPr lang="en-US" sz="2200" dirty="0"/>
          </a:p>
        </p:txBody>
      </p:sp>
      <p:sp>
        <p:nvSpPr>
          <p:cNvPr id="4" name="Shape 2"/>
          <p:cNvSpPr/>
          <p:nvPr/>
        </p:nvSpPr>
        <p:spPr>
          <a:xfrm>
            <a:off x="384048" y="777240"/>
            <a:ext cx="8366760" cy="1115568"/>
          </a:xfrm>
          <a:prstGeom prst="rect">
            <a:avLst/>
          </a:prstGeom>
          <a:solidFill>
            <a:srgbClr val="4C5C68"/>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5" name="Text 3"/>
          <p:cNvSpPr/>
          <p:nvPr/>
        </p:nvSpPr>
        <p:spPr>
          <a:xfrm>
            <a:off x="594360" y="804672"/>
            <a:ext cx="7955280" cy="320040"/>
          </a:xfrm>
          <a:prstGeom prst="rect">
            <a:avLst/>
          </a:prstGeom>
          <a:noFill/>
          <a:ln/>
        </p:spPr>
        <p:txBody>
          <a:bodyPr wrap="square" lIns="0" tIns="0" rIns="0" bIns="0" rtlCol="0" anchor="ctr"/>
          <a:lstStyle/>
          <a:p>
            <a:pPr marL="0" indent="0">
              <a:buNone/>
            </a:pPr>
            <a:r>
              <a:rPr lang="en-US" sz="1200" b="1" dirty="0">
                <a:solidFill>
                  <a:srgbClr val="1985A1"/>
                </a:solidFill>
                <a:latin typeface="Trebuchet MS" pitchFamily="34" charset="0"/>
                <a:ea typeface="Trebuchet MS" pitchFamily="34" charset="-122"/>
                <a:cs typeface="Trebuchet MS" pitchFamily="34" charset="-120"/>
              </a:rPr>
              <a:t>Research Question</a:t>
            </a:r>
            <a:endParaRPr lang="en-US" sz="1200" dirty="0"/>
          </a:p>
        </p:txBody>
      </p:sp>
      <p:sp>
        <p:nvSpPr>
          <p:cNvPr id="6" name="Text 4"/>
          <p:cNvSpPr/>
          <p:nvPr/>
        </p:nvSpPr>
        <p:spPr>
          <a:xfrm>
            <a:off x="594360" y="1097280"/>
            <a:ext cx="7955280" cy="713232"/>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Do firms whose earnings call transcripts contain semantically novel and financially salient content relative to their own historical baseline generate predictable cross-sectional differences in risk-adjusted returns — and does a long-short portfolio exploiting this signal earn significant alpha?</a:t>
            </a:r>
            <a:endParaRPr lang="en-US" sz="1250" dirty="0"/>
          </a:p>
        </p:txBody>
      </p:sp>
      <p:sp>
        <p:nvSpPr>
          <p:cNvPr id="7" name="Shape 5"/>
          <p:cNvSpPr/>
          <p:nvPr/>
        </p:nvSpPr>
        <p:spPr>
          <a:xfrm>
            <a:off x="384048" y="2057400"/>
            <a:ext cx="2651760" cy="260604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8" name="Shape 6"/>
          <p:cNvSpPr/>
          <p:nvPr/>
        </p:nvSpPr>
        <p:spPr>
          <a:xfrm>
            <a:off x="384048" y="2057400"/>
            <a:ext cx="2651760" cy="91440"/>
          </a:xfrm>
          <a:prstGeom prst="rect">
            <a:avLst/>
          </a:prstGeom>
          <a:solidFill>
            <a:srgbClr val="1985A1"/>
          </a:solidFill>
          <a:ln w="12700">
            <a:solidFill>
              <a:srgbClr val="1985A1"/>
            </a:solidFill>
            <a:prstDash val="solid"/>
          </a:ln>
        </p:spPr>
        <p:txBody>
          <a:bodyPr/>
          <a:lstStyle/>
          <a:p>
            <a:endParaRPr lang="en-US"/>
          </a:p>
        </p:txBody>
      </p:sp>
      <p:sp>
        <p:nvSpPr>
          <p:cNvPr id="9" name="Text 7"/>
          <p:cNvSpPr/>
          <p:nvPr/>
        </p:nvSpPr>
        <p:spPr>
          <a:xfrm>
            <a:off x="521208" y="2148840"/>
            <a:ext cx="2377440" cy="411480"/>
          </a:xfrm>
          <a:prstGeom prst="rect">
            <a:avLst/>
          </a:prstGeom>
          <a:noFill/>
          <a:ln/>
        </p:spPr>
        <p:txBody>
          <a:bodyPr wrap="square" lIns="0" tIns="0" rIns="0" bIns="0" rtlCol="0" anchor="ctr"/>
          <a:lstStyle/>
          <a:p>
            <a:pPr marL="0" indent="0">
              <a:buNone/>
            </a:pPr>
            <a:r>
              <a:rPr lang="en-US" sz="1300" b="1" dirty="0">
                <a:solidFill>
                  <a:srgbClr val="4C5C68"/>
                </a:solidFill>
                <a:latin typeface="Trebuchet MS" pitchFamily="34" charset="0"/>
                <a:ea typeface="Trebuchet MS" pitchFamily="34" charset="-122"/>
                <a:cs typeface="Trebuchet MS" pitchFamily="34" charset="-120"/>
              </a:rPr>
              <a:t>H1 · Overreaction</a:t>
            </a:r>
            <a:endParaRPr lang="en-US" sz="1300" dirty="0"/>
          </a:p>
        </p:txBody>
      </p:sp>
      <p:sp>
        <p:nvSpPr>
          <p:cNvPr id="10" name="Text 8"/>
          <p:cNvSpPr/>
          <p:nvPr/>
        </p:nvSpPr>
        <p:spPr>
          <a:xfrm>
            <a:off x="521208" y="2542032"/>
            <a:ext cx="2377440" cy="1965960"/>
          </a:xfrm>
          <a:prstGeom prst="rect">
            <a:avLst/>
          </a:prstGeom>
          <a:noFill/>
          <a:ln/>
        </p:spPr>
        <p:txBody>
          <a:bodyPr wrap="square" lIns="0" tIns="0" rIns="0" bIns="0" rtlCol="0" anchor="t"/>
          <a:lstStyle/>
          <a:p>
            <a:pPr marL="0" indent="0">
              <a:buNone/>
            </a:pPr>
            <a:r>
              <a:rPr lang="en-US" sz="1150" dirty="0">
                <a:solidFill>
                  <a:srgbClr val="46494C"/>
                </a:solidFill>
                <a:latin typeface="Calibri" pitchFamily="34" charset="0"/>
                <a:ea typeface="Calibri" pitchFamily="34" charset="-122"/>
                <a:cs typeface="Calibri" pitchFamily="34" charset="-120"/>
              </a:rPr>
              <a:t>Q1 (familiar language) minus Q5 (novel) long-short portfolio earns positive alpha. Benchmark: Cohen, Malloy &amp; Nguyen (2020) 188 bps/month from 10-K language changes.</a:t>
            </a:r>
            <a:endParaRPr lang="en-US" sz="1150" dirty="0"/>
          </a:p>
        </p:txBody>
      </p:sp>
      <p:sp>
        <p:nvSpPr>
          <p:cNvPr id="11" name="Shape 9"/>
          <p:cNvSpPr/>
          <p:nvPr/>
        </p:nvSpPr>
        <p:spPr>
          <a:xfrm>
            <a:off x="3200400" y="2057400"/>
            <a:ext cx="2651760" cy="260604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10"/>
          <p:cNvSpPr/>
          <p:nvPr/>
        </p:nvSpPr>
        <p:spPr>
          <a:xfrm>
            <a:off x="3200400" y="2057400"/>
            <a:ext cx="2651760" cy="91440"/>
          </a:xfrm>
          <a:prstGeom prst="rect">
            <a:avLst/>
          </a:prstGeom>
          <a:solidFill>
            <a:srgbClr val="1985A1"/>
          </a:solidFill>
          <a:ln w="12700">
            <a:solidFill>
              <a:srgbClr val="1985A1"/>
            </a:solidFill>
            <a:prstDash val="solid"/>
          </a:ln>
        </p:spPr>
        <p:txBody>
          <a:bodyPr/>
          <a:lstStyle/>
          <a:p>
            <a:endParaRPr lang="en-US"/>
          </a:p>
        </p:txBody>
      </p:sp>
      <p:sp>
        <p:nvSpPr>
          <p:cNvPr id="13" name="Text 11"/>
          <p:cNvSpPr/>
          <p:nvPr/>
        </p:nvSpPr>
        <p:spPr>
          <a:xfrm>
            <a:off x="3337560" y="2148840"/>
            <a:ext cx="2377440" cy="411480"/>
          </a:xfrm>
          <a:prstGeom prst="rect">
            <a:avLst/>
          </a:prstGeom>
          <a:noFill/>
          <a:ln/>
        </p:spPr>
        <p:txBody>
          <a:bodyPr wrap="square" lIns="0" tIns="0" rIns="0" bIns="0" rtlCol="0" anchor="ctr"/>
          <a:lstStyle/>
          <a:p>
            <a:pPr marL="0" indent="0">
              <a:buNone/>
            </a:pPr>
            <a:r>
              <a:rPr lang="en-US" sz="1300" b="1" dirty="0">
                <a:solidFill>
                  <a:srgbClr val="4C5C68"/>
                </a:solidFill>
                <a:latin typeface="Trebuchet MS" pitchFamily="34" charset="0"/>
                <a:ea typeface="Trebuchet MS" pitchFamily="34" charset="-122"/>
                <a:cs typeface="Trebuchet MS" pitchFamily="34" charset="-120"/>
              </a:rPr>
              <a:t>H2 · Mean Reversion</a:t>
            </a:r>
            <a:endParaRPr lang="en-US" sz="1300" dirty="0"/>
          </a:p>
        </p:txBody>
      </p:sp>
      <p:sp>
        <p:nvSpPr>
          <p:cNvPr id="14" name="Text 12"/>
          <p:cNvSpPr/>
          <p:nvPr/>
        </p:nvSpPr>
        <p:spPr>
          <a:xfrm>
            <a:off x="3337560" y="2542032"/>
            <a:ext cx="2377440" cy="1965960"/>
          </a:xfrm>
          <a:prstGeom prst="rect">
            <a:avLst/>
          </a:prstGeom>
          <a:noFill/>
          <a:ln/>
        </p:spPr>
        <p:txBody>
          <a:bodyPr wrap="square" lIns="0" tIns="0" rIns="0" bIns="0" rtlCol="0" anchor="t"/>
          <a:lstStyle/>
          <a:p>
            <a:pPr marL="0" indent="0">
              <a:buNone/>
            </a:pPr>
            <a:r>
              <a:rPr lang="en-US" sz="1150" dirty="0">
                <a:solidFill>
                  <a:srgbClr val="46494C"/>
                </a:solidFill>
                <a:latin typeface="Calibri" pitchFamily="34" charset="0"/>
                <a:ea typeface="Calibri" pitchFamily="34" charset="-122"/>
                <a:cs typeface="Calibri" pitchFamily="34" charset="-120"/>
              </a:rPr>
              <a:t>High-novelty firms (Q5) show larger initial abnormal returns at t=0, followed by partial reversal in post-event window [+2, +5], consistent with overreaction and subsequent correction.</a:t>
            </a:r>
            <a:endParaRPr lang="en-US" sz="1150" dirty="0"/>
          </a:p>
        </p:txBody>
      </p:sp>
      <p:sp>
        <p:nvSpPr>
          <p:cNvPr id="15" name="Shape 13"/>
          <p:cNvSpPr/>
          <p:nvPr/>
        </p:nvSpPr>
        <p:spPr>
          <a:xfrm>
            <a:off x="6016752" y="2057400"/>
            <a:ext cx="2651760" cy="260604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6" name="Shape 14"/>
          <p:cNvSpPr/>
          <p:nvPr/>
        </p:nvSpPr>
        <p:spPr>
          <a:xfrm>
            <a:off x="6016752" y="2057400"/>
            <a:ext cx="2651760" cy="91440"/>
          </a:xfrm>
          <a:prstGeom prst="rect">
            <a:avLst/>
          </a:prstGeom>
          <a:solidFill>
            <a:srgbClr val="1985A1"/>
          </a:solidFill>
          <a:ln w="12700">
            <a:solidFill>
              <a:srgbClr val="1985A1"/>
            </a:solidFill>
            <a:prstDash val="solid"/>
          </a:ln>
        </p:spPr>
        <p:txBody>
          <a:bodyPr/>
          <a:lstStyle/>
          <a:p>
            <a:endParaRPr lang="en-US"/>
          </a:p>
        </p:txBody>
      </p:sp>
      <p:sp>
        <p:nvSpPr>
          <p:cNvPr id="17" name="Text 15"/>
          <p:cNvSpPr/>
          <p:nvPr/>
        </p:nvSpPr>
        <p:spPr>
          <a:xfrm>
            <a:off x="6153912" y="2148840"/>
            <a:ext cx="2377440" cy="411480"/>
          </a:xfrm>
          <a:prstGeom prst="rect">
            <a:avLst/>
          </a:prstGeom>
          <a:noFill/>
          <a:ln/>
        </p:spPr>
        <p:txBody>
          <a:bodyPr wrap="square" lIns="0" tIns="0" rIns="0" bIns="0" rtlCol="0" anchor="ctr"/>
          <a:lstStyle/>
          <a:p>
            <a:pPr marL="0" indent="0">
              <a:buNone/>
            </a:pPr>
            <a:r>
              <a:rPr lang="en-US" sz="1300" b="1" dirty="0">
                <a:solidFill>
                  <a:srgbClr val="4C5C68"/>
                </a:solidFill>
                <a:latin typeface="Trebuchet MS" pitchFamily="34" charset="0"/>
                <a:ea typeface="Trebuchet MS" pitchFamily="34" charset="-122"/>
                <a:cs typeface="Trebuchet MS" pitchFamily="34" charset="-120"/>
              </a:rPr>
              <a:t>H3 · Sentiment Interaction</a:t>
            </a:r>
            <a:endParaRPr lang="en-US" sz="1300" dirty="0"/>
          </a:p>
        </p:txBody>
      </p:sp>
      <p:sp>
        <p:nvSpPr>
          <p:cNvPr id="18" name="Text 16"/>
          <p:cNvSpPr/>
          <p:nvPr/>
        </p:nvSpPr>
        <p:spPr>
          <a:xfrm>
            <a:off x="6153912" y="2542032"/>
            <a:ext cx="2377440" cy="1965960"/>
          </a:xfrm>
          <a:prstGeom prst="rect">
            <a:avLst/>
          </a:prstGeom>
          <a:noFill/>
          <a:ln/>
        </p:spPr>
        <p:txBody>
          <a:bodyPr wrap="square" lIns="0" tIns="0" rIns="0" bIns="0" rtlCol="0" anchor="t"/>
          <a:lstStyle/>
          <a:p>
            <a:pPr marL="0" indent="0">
              <a:buNone/>
            </a:pPr>
            <a:r>
              <a:rPr lang="en-US" sz="1150" dirty="0">
                <a:solidFill>
                  <a:srgbClr val="46494C"/>
                </a:solidFill>
                <a:latin typeface="Calibri" pitchFamily="34" charset="0"/>
                <a:ea typeface="Calibri" pitchFamily="34" charset="-122"/>
                <a:cs typeface="Calibri" pitchFamily="34" charset="-120"/>
              </a:rPr>
              <a:t>Overreaction amplified when novel content carries positive FinBERT tone. Long-short alpha is largest in the double-sorted high-novelty × high-positive-tone portfolio.</a:t>
            </a:r>
            <a:endParaRPr lang="en-US" sz="1150" dirty="0"/>
          </a:p>
        </p:txBody>
      </p:sp>
      <p:sp>
        <p:nvSpPr>
          <p:cNvPr id="19" name="Text 17"/>
          <p:cNvSpPr/>
          <p:nvPr/>
        </p:nvSpPr>
        <p:spPr>
          <a:xfrm>
            <a:off x="384048" y="4754880"/>
            <a:ext cx="8366760" cy="310896"/>
          </a:xfrm>
          <a:prstGeom prst="rect">
            <a:avLst/>
          </a:prstGeom>
          <a:noFill/>
          <a:ln/>
        </p:spPr>
        <p:txBody>
          <a:bodyPr wrap="square" lIns="0" tIns="0" rIns="0" bIns="0" rtlCol="0" anchor="ctr"/>
          <a:lstStyle/>
          <a:p>
            <a:pPr marL="0" indent="0">
              <a:buNone/>
            </a:pPr>
            <a:r>
              <a:rPr lang="en-US" sz="950" i="1" dirty="0">
                <a:solidFill>
                  <a:srgbClr val="C5C3C6"/>
                </a:solidFill>
                <a:latin typeface="Calibri" pitchFamily="34" charset="0"/>
                <a:ea typeface="Calibri" pitchFamily="34" charset="-122"/>
                <a:cs typeface="Calibri" pitchFamily="34" charset="-120"/>
              </a:rPr>
              <a:t>Mechanism: Markets overreact to genuinely novel disclosures when sentiment-driven traders and algos lack a reference frame — sophisticated investors then correct the mispricing.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Sources &amp; Sample Overview</a:t>
            </a:r>
            <a:endParaRPr lang="en-US" sz="2200" dirty="0"/>
          </a:p>
        </p:txBody>
      </p:sp>
      <p:sp>
        <p:nvSpPr>
          <p:cNvPr id="4" name="Shape 2"/>
          <p:cNvSpPr/>
          <p:nvPr/>
        </p:nvSpPr>
        <p:spPr>
          <a:xfrm>
            <a:off x="274320" y="749808"/>
            <a:ext cx="1965960" cy="132588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74320" y="749808"/>
            <a:ext cx="1965960" cy="82296"/>
          </a:xfrm>
          <a:prstGeom prst="rect">
            <a:avLst/>
          </a:prstGeom>
          <a:solidFill>
            <a:srgbClr val="1985A1"/>
          </a:solidFill>
          <a:ln w="12700">
            <a:solidFill>
              <a:srgbClr val="1985A1"/>
            </a:solidFill>
            <a:prstDash val="solid"/>
          </a:ln>
        </p:spPr>
        <p:txBody>
          <a:bodyPr/>
          <a:lstStyle/>
          <a:p>
            <a:endParaRPr lang="en-US"/>
          </a:p>
        </p:txBody>
      </p:sp>
      <p:sp>
        <p:nvSpPr>
          <p:cNvPr id="6" name="Text 4"/>
          <p:cNvSpPr/>
          <p:nvPr/>
        </p:nvSpPr>
        <p:spPr>
          <a:xfrm>
            <a:off x="365760" y="822960"/>
            <a:ext cx="1783080" cy="685800"/>
          </a:xfrm>
          <a:prstGeom prst="rect">
            <a:avLst/>
          </a:prstGeom>
          <a:noFill/>
          <a:ln/>
        </p:spPr>
        <p:txBody>
          <a:bodyPr wrap="square" lIns="0" tIns="0" rIns="0" bIns="0" rtlCol="0" anchor="ctr"/>
          <a:lstStyle/>
          <a:p>
            <a:pPr marL="0" indent="0" algn="ctr">
              <a:buNone/>
            </a:pPr>
            <a:r>
              <a:rPr lang="en-US" sz="3000" b="1" dirty="0">
                <a:solidFill>
                  <a:srgbClr val="4C5C68"/>
                </a:solidFill>
                <a:latin typeface="Trebuchet MS" pitchFamily="34" charset="0"/>
                <a:ea typeface="Trebuchet MS" pitchFamily="34" charset="-122"/>
                <a:cs typeface="Trebuchet MS" pitchFamily="34" charset="-120"/>
              </a:rPr>
              <a:t>181,305</a:t>
            </a:r>
            <a:endParaRPr lang="en-US" sz="3000" dirty="0"/>
          </a:p>
        </p:txBody>
      </p:sp>
      <p:sp>
        <p:nvSpPr>
          <p:cNvPr id="7" name="Text 5"/>
          <p:cNvSpPr/>
          <p:nvPr/>
        </p:nvSpPr>
        <p:spPr>
          <a:xfrm>
            <a:off x="365760" y="1463040"/>
            <a:ext cx="1783080" cy="502920"/>
          </a:xfrm>
          <a:prstGeom prst="rect">
            <a:avLst/>
          </a:prstGeom>
          <a:noFill/>
          <a:ln/>
        </p:spPr>
        <p:txBody>
          <a:bodyPr wrap="square" lIns="0" tIns="0" rIns="0" bIns="0" rtlCol="0" anchor="ctr"/>
          <a:lstStyle/>
          <a:p>
            <a:pPr marL="0" indent="0" algn="ctr">
              <a:buNone/>
            </a:pPr>
            <a:r>
              <a:rPr lang="en-US" sz="1050" dirty="0">
                <a:solidFill>
                  <a:srgbClr val="46494C"/>
                </a:solidFill>
                <a:latin typeface="Calibri" pitchFamily="34" charset="0"/>
                <a:ea typeface="Calibri" pitchFamily="34" charset="-122"/>
                <a:cs typeface="Calibri" pitchFamily="34" charset="-120"/>
              </a:rPr>
              <a:t>Earnings Call Events</a:t>
            </a:r>
            <a:endParaRPr lang="en-US" sz="1050" dirty="0"/>
          </a:p>
        </p:txBody>
      </p:sp>
      <p:sp>
        <p:nvSpPr>
          <p:cNvPr id="8" name="Shape 6"/>
          <p:cNvSpPr/>
          <p:nvPr/>
        </p:nvSpPr>
        <p:spPr>
          <a:xfrm>
            <a:off x="2450592" y="749808"/>
            <a:ext cx="1965960" cy="132588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9" name="Shape 7"/>
          <p:cNvSpPr/>
          <p:nvPr/>
        </p:nvSpPr>
        <p:spPr>
          <a:xfrm>
            <a:off x="2450592" y="749808"/>
            <a:ext cx="1965960" cy="82296"/>
          </a:xfrm>
          <a:prstGeom prst="rect">
            <a:avLst/>
          </a:prstGeom>
          <a:solidFill>
            <a:srgbClr val="1985A1"/>
          </a:solidFill>
          <a:ln w="12700">
            <a:solidFill>
              <a:srgbClr val="1985A1"/>
            </a:solidFill>
            <a:prstDash val="solid"/>
          </a:ln>
        </p:spPr>
        <p:txBody>
          <a:bodyPr/>
          <a:lstStyle/>
          <a:p>
            <a:endParaRPr lang="en-US"/>
          </a:p>
        </p:txBody>
      </p:sp>
      <p:sp>
        <p:nvSpPr>
          <p:cNvPr id="10" name="Text 8"/>
          <p:cNvSpPr/>
          <p:nvPr/>
        </p:nvSpPr>
        <p:spPr>
          <a:xfrm>
            <a:off x="2542032" y="822960"/>
            <a:ext cx="1783080" cy="685800"/>
          </a:xfrm>
          <a:prstGeom prst="rect">
            <a:avLst/>
          </a:prstGeom>
          <a:noFill/>
          <a:ln/>
        </p:spPr>
        <p:txBody>
          <a:bodyPr wrap="square" lIns="0" tIns="0" rIns="0" bIns="0" rtlCol="0" anchor="ctr"/>
          <a:lstStyle/>
          <a:p>
            <a:pPr marL="0" indent="0" algn="ctr">
              <a:buNone/>
            </a:pPr>
            <a:r>
              <a:rPr lang="en-US" sz="3000" b="1" dirty="0">
                <a:solidFill>
                  <a:srgbClr val="4C5C68"/>
                </a:solidFill>
                <a:latin typeface="Trebuchet MS" pitchFamily="34" charset="0"/>
                <a:ea typeface="Trebuchet MS" pitchFamily="34" charset="-122"/>
                <a:cs typeface="Trebuchet MS" pitchFamily="34" charset="-120"/>
              </a:rPr>
              <a:t>6,294</a:t>
            </a:r>
            <a:endParaRPr lang="en-US" sz="3000" dirty="0"/>
          </a:p>
        </p:txBody>
      </p:sp>
      <p:sp>
        <p:nvSpPr>
          <p:cNvPr id="11" name="Text 9"/>
          <p:cNvSpPr/>
          <p:nvPr/>
        </p:nvSpPr>
        <p:spPr>
          <a:xfrm>
            <a:off x="2542032" y="1463040"/>
            <a:ext cx="1783080" cy="502920"/>
          </a:xfrm>
          <a:prstGeom prst="rect">
            <a:avLst/>
          </a:prstGeom>
          <a:noFill/>
          <a:ln/>
        </p:spPr>
        <p:txBody>
          <a:bodyPr wrap="square" lIns="0" tIns="0" rIns="0" bIns="0" rtlCol="0" anchor="ctr"/>
          <a:lstStyle/>
          <a:p>
            <a:pPr marL="0" indent="0" algn="ctr">
              <a:buNone/>
            </a:pPr>
            <a:r>
              <a:rPr lang="en-US" sz="1050" dirty="0">
                <a:solidFill>
                  <a:srgbClr val="46494C"/>
                </a:solidFill>
                <a:latin typeface="Calibri" pitchFamily="34" charset="0"/>
                <a:ea typeface="Calibri" pitchFamily="34" charset="-122"/>
                <a:cs typeface="Calibri" pitchFamily="34" charset="-120"/>
              </a:rPr>
              <a:t>Unique Tickers</a:t>
            </a:r>
            <a:endParaRPr lang="en-US" sz="1050" dirty="0"/>
          </a:p>
        </p:txBody>
      </p:sp>
      <p:sp>
        <p:nvSpPr>
          <p:cNvPr id="12" name="Shape 10"/>
          <p:cNvSpPr/>
          <p:nvPr/>
        </p:nvSpPr>
        <p:spPr>
          <a:xfrm>
            <a:off x="4626864" y="749808"/>
            <a:ext cx="1965960" cy="132588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1"/>
          <p:cNvSpPr/>
          <p:nvPr/>
        </p:nvSpPr>
        <p:spPr>
          <a:xfrm>
            <a:off x="4626864" y="749808"/>
            <a:ext cx="1965960" cy="82296"/>
          </a:xfrm>
          <a:prstGeom prst="rect">
            <a:avLst/>
          </a:prstGeom>
          <a:solidFill>
            <a:srgbClr val="1985A1"/>
          </a:solidFill>
          <a:ln w="12700">
            <a:solidFill>
              <a:srgbClr val="1985A1"/>
            </a:solidFill>
            <a:prstDash val="solid"/>
          </a:ln>
        </p:spPr>
        <p:txBody>
          <a:bodyPr/>
          <a:lstStyle/>
          <a:p>
            <a:endParaRPr lang="en-US"/>
          </a:p>
        </p:txBody>
      </p:sp>
      <p:sp>
        <p:nvSpPr>
          <p:cNvPr id="14" name="Text 12"/>
          <p:cNvSpPr/>
          <p:nvPr/>
        </p:nvSpPr>
        <p:spPr>
          <a:xfrm>
            <a:off x="4718304" y="822960"/>
            <a:ext cx="1783080" cy="685800"/>
          </a:xfrm>
          <a:prstGeom prst="rect">
            <a:avLst/>
          </a:prstGeom>
          <a:noFill/>
          <a:ln/>
        </p:spPr>
        <p:txBody>
          <a:bodyPr wrap="square" lIns="0" tIns="0" rIns="0" bIns="0" rtlCol="0" anchor="ctr"/>
          <a:lstStyle/>
          <a:p>
            <a:pPr marL="0" indent="0" algn="ctr">
              <a:buNone/>
            </a:pPr>
            <a:r>
              <a:rPr lang="en-US" sz="3000" b="1" dirty="0">
                <a:solidFill>
                  <a:srgbClr val="4C5C68"/>
                </a:solidFill>
                <a:latin typeface="Trebuchet MS" pitchFamily="34" charset="0"/>
                <a:ea typeface="Trebuchet MS" pitchFamily="34" charset="-122"/>
                <a:cs typeface="Trebuchet MS" pitchFamily="34" charset="-120"/>
              </a:rPr>
              <a:t>15 yrs</a:t>
            </a:r>
            <a:endParaRPr lang="en-US" sz="3000" dirty="0"/>
          </a:p>
        </p:txBody>
      </p:sp>
      <p:sp>
        <p:nvSpPr>
          <p:cNvPr id="15" name="Text 13"/>
          <p:cNvSpPr/>
          <p:nvPr/>
        </p:nvSpPr>
        <p:spPr>
          <a:xfrm>
            <a:off x="4718304" y="1463040"/>
            <a:ext cx="1783080" cy="502920"/>
          </a:xfrm>
          <a:prstGeom prst="rect">
            <a:avLst/>
          </a:prstGeom>
          <a:noFill/>
          <a:ln/>
        </p:spPr>
        <p:txBody>
          <a:bodyPr wrap="square" lIns="0" tIns="0" rIns="0" bIns="0" rtlCol="0" anchor="ctr"/>
          <a:lstStyle/>
          <a:p>
            <a:pPr marL="0" indent="0" algn="ctr">
              <a:buNone/>
            </a:pPr>
            <a:r>
              <a:rPr lang="en-US" sz="1050" dirty="0">
                <a:solidFill>
                  <a:srgbClr val="46494C"/>
                </a:solidFill>
                <a:latin typeface="Calibri" pitchFamily="34" charset="0"/>
                <a:ea typeface="Calibri" pitchFamily="34" charset="-122"/>
                <a:cs typeface="Calibri" pitchFamily="34" charset="-120"/>
              </a:rPr>
              <a:t>Apr 2010 – Dec 2025</a:t>
            </a:r>
            <a:endParaRPr lang="en-US" sz="1050" dirty="0"/>
          </a:p>
        </p:txBody>
      </p:sp>
      <p:sp>
        <p:nvSpPr>
          <p:cNvPr id="16" name="Shape 14"/>
          <p:cNvSpPr/>
          <p:nvPr/>
        </p:nvSpPr>
        <p:spPr>
          <a:xfrm>
            <a:off x="6803136" y="749808"/>
            <a:ext cx="1965960" cy="132588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5"/>
          <p:cNvSpPr/>
          <p:nvPr/>
        </p:nvSpPr>
        <p:spPr>
          <a:xfrm>
            <a:off x="6803136" y="749808"/>
            <a:ext cx="1965960" cy="82296"/>
          </a:xfrm>
          <a:prstGeom prst="rect">
            <a:avLst/>
          </a:prstGeom>
          <a:solidFill>
            <a:srgbClr val="1985A1"/>
          </a:solidFill>
          <a:ln w="12700">
            <a:solidFill>
              <a:srgbClr val="1985A1"/>
            </a:solidFill>
            <a:prstDash val="solid"/>
          </a:ln>
        </p:spPr>
        <p:txBody>
          <a:bodyPr/>
          <a:lstStyle/>
          <a:p>
            <a:endParaRPr lang="en-US"/>
          </a:p>
        </p:txBody>
      </p:sp>
      <p:sp>
        <p:nvSpPr>
          <p:cNvPr id="18" name="Text 16"/>
          <p:cNvSpPr/>
          <p:nvPr/>
        </p:nvSpPr>
        <p:spPr>
          <a:xfrm>
            <a:off x="6894576" y="822960"/>
            <a:ext cx="1783080" cy="685800"/>
          </a:xfrm>
          <a:prstGeom prst="rect">
            <a:avLst/>
          </a:prstGeom>
          <a:noFill/>
          <a:ln/>
        </p:spPr>
        <p:txBody>
          <a:bodyPr wrap="square" lIns="0" tIns="0" rIns="0" bIns="0" rtlCol="0" anchor="ctr"/>
          <a:lstStyle/>
          <a:p>
            <a:pPr marL="0" indent="0" algn="ctr">
              <a:buNone/>
            </a:pPr>
            <a:r>
              <a:rPr lang="en-US" sz="3000" b="1" dirty="0">
                <a:solidFill>
                  <a:srgbClr val="4C5C68"/>
                </a:solidFill>
                <a:latin typeface="Trebuchet MS" pitchFamily="34" charset="0"/>
                <a:ea typeface="Trebuchet MS" pitchFamily="34" charset="-122"/>
                <a:cs typeface="Trebuchet MS" pitchFamily="34" charset="-120"/>
              </a:rPr>
              <a:t>8,089</a:t>
            </a:r>
            <a:endParaRPr lang="en-US" sz="3000" dirty="0"/>
          </a:p>
        </p:txBody>
      </p:sp>
      <p:sp>
        <p:nvSpPr>
          <p:cNvPr id="19" name="Text 17"/>
          <p:cNvSpPr/>
          <p:nvPr/>
        </p:nvSpPr>
        <p:spPr>
          <a:xfrm>
            <a:off x="6894576" y="1463040"/>
            <a:ext cx="1783080" cy="502920"/>
          </a:xfrm>
          <a:prstGeom prst="rect">
            <a:avLst/>
          </a:prstGeom>
          <a:noFill/>
          <a:ln/>
        </p:spPr>
        <p:txBody>
          <a:bodyPr wrap="square" lIns="0" tIns="0" rIns="0" bIns="0" rtlCol="0" anchor="ctr"/>
          <a:lstStyle/>
          <a:p>
            <a:pPr marL="0" indent="0" algn="ctr">
              <a:buNone/>
            </a:pPr>
            <a:r>
              <a:rPr lang="en-US" sz="1050" dirty="0">
                <a:solidFill>
                  <a:srgbClr val="46494C"/>
                </a:solidFill>
                <a:latin typeface="Calibri" pitchFamily="34" charset="0"/>
                <a:ea typeface="Calibri" pitchFamily="34" charset="-122"/>
                <a:cs typeface="Calibri" pitchFamily="34" charset="-120"/>
              </a:rPr>
              <a:t>Median Words / Call</a:t>
            </a:r>
            <a:endParaRPr lang="en-US" sz="1050" dirty="0"/>
          </a:p>
        </p:txBody>
      </p:sp>
      <p:sp>
        <p:nvSpPr>
          <p:cNvPr id="20" name="Shape 18"/>
          <p:cNvSpPr/>
          <p:nvPr/>
        </p:nvSpPr>
        <p:spPr>
          <a:xfrm>
            <a:off x="274320" y="2240280"/>
            <a:ext cx="4160520" cy="2542032"/>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1" name="Shape 19"/>
          <p:cNvSpPr/>
          <p:nvPr/>
        </p:nvSpPr>
        <p:spPr>
          <a:xfrm>
            <a:off x="274320" y="2240280"/>
            <a:ext cx="64008" cy="2542032"/>
          </a:xfrm>
          <a:prstGeom prst="rect">
            <a:avLst/>
          </a:prstGeom>
          <a:solidFill>
            <a:srgbClr val="1985A1"/>
          </a:solidFill>
          <a:ln w="12700">
            <a:solidFill>
              <a:srgbClr val="1985A1"/>
            </a:solidFill>
            <a:prstDash val="solid"/>
          </a:ln>
        </p:spPr>
        <p:txBody>
          <a:bodyPr/>
          <a:lstStyle/>
          <a:p>
            <a:endParaRPr lang="en-US"/>
          </a:p>
        </p:txBody>
      </p:sp>
      <p:sp>
        <p:nvSpPr>
          <p:cNvPr id="22" name="Text 20"/>
          <p:cNvSpPr/>
          <p:nvPr/>
        </p:nvSpPr>
        <p:spPr>
          <a:xfrm>
            <a:off x="475488" y="2286000"/>
            <a:ext cx="3749040" cy="384048"/>
          </a:xfrm>
          <a:prstGeom prst="rect">
            <a:avLst/>
          </a:prstGeom>
          <a:noFill/>
          <a:ln/>
        </p:spPr>
        <p:txBody>
          <a:bodyPr wrap="square" lIns="0" tIns="0" rIns="0" bIns="0" rtlCol="0" anchor="ctr"/>
          <a:lstStyle/>
          <a:p>
            <a:pPr marL="0" indent="0">
              <a:buNone/>
            </a:pPr>
            <a:r>
              <a:rPr lang="en-US" sz="1400" b="1" dirty="0">
                <a:solidFill>
                  <a:srgbClr val="4C5C68"/>
                </a:solidFill>
                <a:latin typeface="Trebuchet MS" pitchFamily="34" charset="0"/>
                <a:ea typeface="Trebuchet MS" pitchFamily="34" charset="-122"/>
                <a:cs typeface="Trebuchet MS" pitchFamily="34" charset="-120"/>
              </a:rPr>
              <a:t>Financial Data</a:t>
            </a:r>
            <a:endParaRPr lang="en-US" sz="1400" dirty="0"/>
          </a:p>
        </p:txBody>
      </p:sp>
      <p:sp>
        <p:nvSpPr>
          <p:cNvPr id="23" name="Text 21"/>
          <p:cNvSpPr/>
          <p:nvPr/>
        </p:nvSpPr>
        <p:spPr>
          <a:xfrm>
            <a:off x="475488" y="2706624"/>
            <a:ext cx="3767328" cy="1965960"/>
          </a:xfrm>
          <a:prstGeom prst="rect">
            <a:avLst/>
          </a:prstGeom>
          <a:noFill/>
          <a:ln/>
        </p:spPr>
        <p:txBody>
          <a:bodyPr wrap="square" lIns="0" tIns="0" rIns="0" bIns="0" rtlCol="0" anchor="t"/>
          <a:lstStyle/>
          <a:p>
            <a:pPr marL="0" indent="0">
              <a:buNone/>
            </a:pPr>
            <a:r>
              <a:rPr lang="en-US" sz="1100" b="1" dirty="0">
                <a:solidFill>
                  <a:srgbClr val="46494C"/>
                </a:solidFill>
                <a:latin typeface="Calibri" pitchFamily="34" charset="0"/>
                <a:ea typeface="Calibri" pitchFamily="34" charset="-122"/>
                <a:cs typeface="Calibri" pitchFamily="34" charset="-120"/>
              </a:rPr>
              <a:t>Daily Returns</a:t>
            </a:r>
            <a:endParaRPr lang="en-US" sz="1100" dirty="0"/>
          </a:p>
          <a:p>
            <a:pPr marL="0" indent="0">
              <a:buNone/>
            </a:pPr>
            <a:r>
              <a:rPr lang="en-US" sz="1100" dirty="0">
                <a:solidFill>
                  <a:srgbClr val="46494C"/>
                </a:solidFill>
                <a:latin typeface="Calibri" pitchFamily="34" charset="0"/>
                <a:ea typeface="Calibri" pitchFamily="34" charset="-122"/>
                <a:cs typeface="Calibri" pitchFamily="34" charset="-120"/>
              </a:rPr>
              <a:t>ret_t−15 through ret_t+15 (31-day event window); 3-month holding period for portfolio sort
</a:t>
            </a:r>
            <a:r>
              <a:rPr lang="en-US" sz="1100" b="1" dirty="0">
                <a:solidFill>
                  <a:srgbClr val="46494C"/>
                </a:solidFill>
                <a:latin typeface="Calibri" pitchFamily="34" charset="0"/>
                <a:ea typeface="Calibri" pitchFamily="34" charset="-122"/>
                <a:cs typeface="Calibri" pitchFamily="34" charset="-120"/>
              </a:rPr>
              <a:t>Overnight Return</a:t>
            </a:r>
            <a:endParaRPr lang="en-US" sz="1100" dirty="0"/>
          </a:p>
          <a:p>
            <a:pPr marL="0" indent="0">
              <a:buNone/>
            </a:pPr>
            <a:r>
              <a:rPr lang="en-US" sz="1100" dirty="0">
                <a:solidFill>
                  <a:srgbClr val="46494C"/>
                </a:solidFill>
                <a:latin typeface="Calibri" pitchFamily="34" charset="0"/>
                <a:ea typeface="Calibri" pitchFamily="34" charset="-122"/>
                <a:cs typeface="Calibri" pitchFamily="34" charset="-120"/>
              </a:rPr>
              <a:t>close_to_open_return — immediate earnings surprise proxy
</a:t>
            </a:r>
            <a:r>
              <a:rPr lang="en-US" sz="1100" b="1" dirty="0">
                <a:solidFill>
                  <a:srgbClr val="46494C"/>
                </a:solidFill>
                <a:latin typeface="Calibri" pitchFamily="34" charset="0"/>
                <a:ea typeface="Calibri" pitchFamily="34" charset="-122"/>
                <a:cs typeface="Calibri" pitchFamily="34" charset="-120"/>
              </a:rPr>
              <a:t>Identifiers</a:t>
            </a:r>
            <a:endParaRPr lang="en-US" sz="1100" dirty="0"/>
          </a:p>
          <a:p>
            <a:pPr marL="0" indent="0">
              <a:buNone/>
            </a:pPr>
            <a:r>
              <a:rPr lang="en-US" sz="1100" dirty="0">
                <a:solidFill>
                  <a:srgbClr val="46494C"/>
                </a:solidFill>
                <a:latin typeface="Calibri" pitchFamily="34" charset="0"/>
                <a:ea typeface="Calibri" pitchFamily="34" charset="-122"/>
                <a:cs typeface="Calibri" pitchFamily="34" charset="-120"/>
              </a:rPr>
              <a:t>CRSP permno for risk adjustment; ~5,093 obs excluded for missing permno</a:t>
            </a:r>
            <a:endParaRPr lang="en-US" sz="1100" dirty="0"/>
          </a:p>
        </p:txBody>
      </p:sp>
      <p:sp>
        <p:nvSpPr>
          <p:cNvPr id="24" name="Shape 22"/>
          <p:cNvSpPr/>
          <p:nvPr/>
        </p:nvSpPr>
        <p:spPr>
          <a:xfrm>
            <a:off x="4709160" y="2240280"/>
            <a:ext cx="4160520" cy="2542032"/>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5" name="Shape 23"/>
          <p:cNvSpPr/>
          <p:nvPr/>
        </p:nvSpPr>
        <p:spPr>
          <a:xfrm>
            <a:off x="4709160" y="2240280"/>
            <a:ext cx="64008" cy="2542032"/>
          </a:xfrm>
          <a:prstGeom prst="rect">
            <a:avLst/>
          </a:prstGeom>
          <a:solidFill>
            <a:srgbClr val="4C5C68"/>
          </a:solidFill>
          <a:ln w="12700">
            <a:solidFill>
              <a:srgbClr val="4C5C68"/>
            </a:solidFill>
            <a:prstDash val="solid"/>
          </a:ln>
        </p:spPr>
        <p:txBody>
          <a:bodyPr/>
          <a:lstStyle/>
          <a:p>
            <a:endParaRPr lang="en-US"/>
          </a:p>
        </p:txBody>
      </p:sp>
      <p:sp>
        <p:nvSpPr>
          <p:cNvPr id="26" name="Text 24"/>
          <p:cNvSpPr/>
          <p:nvPr/>
        </p:nvSpPr>
        <p:spPr>
          <a:xfrm>
            <a:off x="4910328" y="2286000"/>
            <a:ext cx="3749040" cy="384048"/>
          </a:xfrm>
          <a:prstGeom prst="rect">
            <a:avLst/>
          </a:prstGeom>
          <a:noFill/>
          <a:ln/>
        </p:spPr>
        <p:txBody>
          <a:bodyPr wrap="square" lIns="0" tIns="0" rIns="0" bIns="0" rtlCol="0" anchor="ctr"/>
          <a:lstStyle/>
          <a:p>
            <a:pPr marL="0" indent="0">
              <a:buNone/>
            </a:pPr>
            <a:r>
              <a:rPr lang="en-US" sz="1400" b="1" dirty="0">
                <a:solidFill>
                  <a:srgbClr val="4C5C68"/>
                </a:solidFill>
                <a:latin typeface="Trebuchet MS" pitchFamily="34" charset="0"/>
                <a:ea typeface="Trebuchet MS" pitchFamily="34" charset="-122"/>
                <a:cs typeface="Trebuchet MS" pitchFamily="34" charset="-120"/>
              </a:rPr>
              <a:t>Text &amp; Sample Quality</a:t>
            </a:r>
            <a:endParaRPr lang="en-US" sz="1400" dirty="0"/>
          </a:p>
        </p:txBody>
      </p:sp>
      <p:sp>
        <p:nvSpPr>
          <p:cNvPr id="27" name="Text 25"/>
          <p:cNvSpPr/>
          <p:nvPr/>
        </p:nvSpPr>
        <p:spPr>
          <a:xfrm>
            <a:off x="4910328" y="2706624"/>
            <a:ext cx="3767328" cy="1965960"/>
          </a:xfrm>
          <a:prstGeom prst="rect">
            <a:avLst/>
          </a:prstGeom>
          <a:noFill/>
          <a:ln/>
        </p:spPr>
        <p:txBody>
          <a:bodyPr wrap="square" lIns="0" tIns="0" rIns="0" bIns="0" rtlCol="0" anchor="t"/>
          <a:lstStyle/>
          <a:p>
            <a:pPr marL="0" indent="0">
              <a:buNone/>
            </a:pPr>
            <a:r>
              <a:rPr lang="en-US" sz="1100" b="1" dirty="0">
                <a:solidFill>
                  <a:srgbClr val="46494C"/>
                </a:solidFill>
                <a:latin typeface="Calibri" pitchFamily="34" charset="0"/>
                <a:ea typeface="Calibri" pitchFamily="34" charset="-122"/>
                <a:cs typeface="Calibri" pitchFamily="34" charset="-120"/>
              </a:rPr>
              <a:t>Transcript Input</a:t>
            </a:r>
            <a:endParaRPr lang="en-US" sz="1100" dirty="0"/>
          </a:p>
          <a:p>
            <a:pPr marL="0" indent="0">
              <a:buNone/>
            </a:pPr>
            <a:r>
              <a:rPr lang="en-US" sz="1100" dirty="0">
                <a:solidFill>
                  <a:srgbClr val="46494C"/>
                </a:solidFill>
                <a:latin typeface="Calibri" pitchFamily="34" charset="0"/>
                <a:ea typeface="Calibri" pitchFamily="34" charset="-122"/>
                <a:cs typeface="Calibri" pitchFamily="34" charset="-120"/>
              </a:rPr>
              <a:t>full_transcript_text; boilerplate stripped via regex; turn-level embedding (no fixed chunking)
</a:t>
            </a:r>
            <a:r>
              <a:rPr lang="en-US" sz="1100" b="1" dirty="0">
                <a:solidFill>
                  <a:srgbClr val="46494C"/>
                </a:solidFill>
                <a:latin typeface="Calibri" pitchFamily="34" charset="0"/>
                <a:ea typeface="Calibri" pitchFamily="34" charset="-122"/>
                <a:cs typeface="Calibri" pitchFamily="34" charset="-120"/>
              </a:rPr>
              <a:t>Inclusion Criteria</a:t>
            </a:r>
            <a:endParaRPr lang="en-US" sz="1100" dirty="0"/>
          </a:p>
          <a:p>
            <a:pPr marL="0" indent="0">
              <a:buNone/>
            </a:pPr>
            <a:r>
              <a:rPr lang="en-US" sz="1100" dirty="0">
                <a:solidFill>
                  <a:srgbClr val="46494C"/>
                </a:solidFill>
                <a:latin typeface="Calibri" pitchFamily="34" charset="0"/>
                <a:ea typeface="Calibri" pitchFamily="34" charset="-122"/>
                <a:cs typeface="Calibri" pitchFamily="34" charset="-120"/>
              </a:rPr>
              <a:t>Event type = Earnings Call  ·  permno non-missing  ·  ≥ 2 prior transcripts  ·  word_count &gt; 100  ·  full [−1,+5] return window
</a:t>
            </a:r>
            <a:r>
              <a:rPr lang="en-US" sz="1100" b="1" dirty="0">
                <a:solidFill>
                  <a:srgbClr val="46494C"/>
                </a:solidFill>
                <a:latin typeface="Calibri" pitchFamily="34" charset="0"/>
                <a:ea typeface="Calibri" pitchFamily="34" charset="-122"/>
                <a:cs typeface="Calibri" pitchFamily="34" charset="-120"/>
              </a:rPr>
              <a:t>Outlier Handling</a:t>
            </a:r>
            <a:endParaRPr lang="en-US" sz="1100" dirty="0"/>
          </a:p>
          <a:p>
            <a:pPr marL="0" indent="0">
              <a:buNone/>
            </a:pPr>
            <a:r>
              <a:rPr lang="en-US" sz="1100" dirty="0">
                <a:solidFill>
                  <a:srgbClr val="46494C"/>
                </a:solidFill>
                <a:latin typeface="Calibri" pitchFamily="34" charset="0"/>
                <a:ea typeface="Calibri" pitchFamily="34" charset="-122"/>
                <a:cs typeface="Calibri" pitchFamily="34" charset="-120"/>
              </a:rPr>
              <a:t>Returns winsorized 1st/99th pct; novelty scores bounded [0,1] by construction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Multi-Layer NLP Pipeline</a:t>
            </a:r>
            <a:endParaRPr lang="en-US" sz="2200" dirty="0"/>
          </a:p>
        </p:txBody>
      </p:sp>
      <p:sp>
        <p:nvSpPr>
          <p:cNvPr id="4" name="Shape 2"/>
          <p:cNvSpPr/>
          <p:nvPr/>
        </p:nvSpPr>
        <p:spPr>
          <a:xfrm>
            <a:off x="256032" y="777240"/>
            <a:ext cx="1572768" cy="32004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56032" y="777240"/>
            <a:ext cx="1572768" cy="566928"/>
          </a:xfrm>
          <a:prstGeom prst="rect">
            <a:avLst/>
          </a:prstGeom>
          <a:solidFill>
            <a:srgbClr val="1985A1"/>
          </a:solidFill>
          <a:ln w="12700">
            <a:solidFill>
              <a:srgbClr val="1985A1"/>
            </a:solidFill>
            <a:prstDash val="solid"/>
          </a:ln>
        </p:spPr>
        <p:txBody>
          <a:bodyPr/>
          <a:lstStyle/>
          <a:p>
            <a:endParaRPr lang="en-US"/>
          </a:p>
        </p:txBody>
      </p:sp>
      <p:sp>
        <p:nvSpPr>
          <p:cNvPr id="6" name="Text 4"/>
          <p:cNvSpPr/>
          <p:nvPr/>
        </p:nvSpPr>
        <p:spPr>
          <a:xfrm>
            <a:off x="301752" y="777240"/>
            <a:ext cx="14813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01</a:t>
            </a:r>
            <a:endParaRPr lang="en-US" sz="2200" dirty="0"/>
          </a:p>
        </p:txBody>
      </p:sp>
      <p:sp>
        <p:nvSpPr>
          <p:cNvPr id="7" name="Text 5"/>
          <p:cNvSpPr/>
          <p:nvPr/>
        </p:nvSpPr>
        <p:spPr>
          <a:xfrm>
            <a:off x="329184" y="1389888"/>
            <a:ext cx="1426464" cy="658368"/>
          </a:xfrm>
          <a:prstGeom prst="rect">
            <a:avLst/>
          </a:prstGeom>
          <a:noFill/>
          <a:ln/>
        </p:spPr>
        <p:txBody>
          <a:bodyPr wrap="square" lIns="0" tIns="0" rIns="0" bIns="0" rtlCol="0" anchor="ctr"/>
          <a:lstStyle/>
          <a:p>
            <a:pPr marL="0" indent="0" algn="ctr">
              <a:buNone/>
            </a:pPr>
            <a:r>
              <a:rPr lang="en-US" sz="1200" b="1" dirty="0">
                <a:solidFill>
                  <a:srgbClr val="4C5C68"/>
                </a:solidFill>
                <a:latin typeface="Trebuchet MS" pitchFamily="34" charset="0"/>
                <a:ea typeface="Trebuchet MS" pitchFamily="34" charset="-122"/>
                <a:cs typeface="Trebuchet MS" pitchFamily="34" charset="-120"/>
              </a:rPr>
              <a:t>Turn-Level</a:t>
            </a:r>
            <a:endParaRPr lang="en-US" sz="1200" dirty="0"/>
          </a:p>
          <a:p>
            <a:pPr marL="0" indent="0" algn="ctr">
              <a:buNone/>
            </a:pPr>
            <a:r>
              <a:rPr lang="en-US" sz="1200" b="1" dirty="0">
                <a:solidFill>
                  <a:srgbClr val="4C5C68"/>
                </a:solidFill>
                <a:latin typeface="Trebuchet MS" pitchFamily="34" charset="0"/>
                <a:ea typeface="Trebuchet MS" pitchFamily="34" charset="-122"/>
                <a:cs typeface="Trebuchet MS" pitchFamily="34" charset="-120"/>
              </a:rPr>
              <a:t>Embedding</a:t>
            </a:r>
            <a:endParaRPr lang="en-US" sz="1200" dirty="0"/>
          </a:p>
        </p:txBody>
      </p:sp>
      <p:sp>
        <p:nvSpPr>
          <p:cNvPr id="8" name="Text 6"/>
          <p:cNvSpPr/>
          <p:nvPr/>
        </p:nvSpPr>
        <p:spPr>
          <a:xfrm>
            <a:off x="347472" y="2048256"/>
            <a:ext cx="1389888" cy="1719072"/>
          </a:xfrm>
          <a:prstGeom prst="rect">
            <a:avLst/>
          </a:prstGeom>
          <a:noFill/>
          <a:ln/>
        </p:spPr>
        <p:txBody>
          <a:bodyPr wrap="square" lIns="0" tIns="0" rIns="0" bIns="0" rtlCol="0" anchor="t"/>
          <a:lstStyle/>
          <a:p>
            <a:pPr marL="0" indent="0" algn="ctr">
              <a:buNone/>
            </a:pPr>
            <a:r>
              <a:rPr lang="en-US" sz="1050" dirty="0">
                <a:solidFill>
                  <a:srgbClr val="46494C"/>
                </a:solidFill>
                <a:latin typeface="Calibri" pitchFamily="34" charset="0"/>
                <a:ea typeface="Calibri" pitchFamily="34" charset="-122"/>
                <a:cs typeface="Calibri" pitchFamily="34" charset="-120"/>
              </a:rPr>
              <a:t>nomic-embed-text-v1.5</a:t>
            </a:r>
            <a:endParaRPr lang="en-US" sz="1050" dirty="0"/>
          </a:p>
          <a:p>
            <a:pPr marL="0" indent="0" algn="ctr">
              <a:buNone/>
            </a:pPr>
            <a:r>
              <a:rPr lang="en-US" sz="1050" dirty="0">
                <a:solidFill>
                  <a:srgbClr val="46494C"/>
                </a:solidFill>
                <a:latin typeface="Calibri" pitchFamily="34" charset="0"/>
                <a:ea typeface="Calibri" pitchFamily="34" charset="-122"/>
                <a:cs typeface="Calibri" pitchFamily="34" charset="-120"/>
              </a:rPr>
              <a:t>(768-dim)</a:t>
            </a:r>
            <a:endParaRPr lang="en-US" sz="1050" dirty="0"/>
          </a:p>
          <a:p>
            <a:pPr marL="0" indent="0" algn="ctr">
              <a:buNone/>
            </a:pPr>
            <a:r>
              <a:rPr lang="en-US" sz="1050" dirty="0">
                <a:solidFill>
                  <a:srgbClr val="46494C"/>
                </a:solidFill>
                <a:latin typeface="Calibri" pitchFamily="34" charset="0"/>
                <a:ea typeface="Calibri" pitchFamily="34" charset="-122"/>
                <a:cs typeface="Calibri" pitchFamily="34" charset="-120"/>
              </a:rPr>
              <a:t>Turn = natural utterance unit</a:t>
            </a:r>
            <a:endParaRPr lang="en-US" sz="1050" dirty="0"/>
          </a:p>
        </p:txBody>
      </p:sp>
      <p:sp>
        <p:nvSpPr>
          <p:cNvPr id="9" name="Shape 7"/>
          <p:cNvSpPr/>
          <p:nvPr/>
        </p:nvSpPr>
        <p:spPr>
          <a:xfrm>
            <a:off x="1828800" y="1874520"/>
            <a:ext cx="164592" cy="45720"/>
          </a:xfrm>
          <a:prstGeom prst="rect">
            <a:avLst/>
          </a:prstGeom>
          <a:solidFill>
            <a:srgbClr val="C5C3C6"/>
          </a:solidFill>
          <a:ln w="12700">
            <a:solidFill>
              <a:srgbClr val="C5C3C6"/>
            </a:solidFill>
            <a:prstDash val="solid"/>
          </a:ln>
        </p:spPr>
        <p:txBody>
          <a:bodyPr/>
          <a:lstStyle/>
          <a:p>
            <a:endParaRPr lang="en-US"/>
          </a:p>
        </p:txBody>
      </p:sp>
      <p:sp>
        <p:nvSpPr>
          <p:cNvPr id="10" name="Shape 8"/>
          <p:cNvSpPr/>
          <p:nvPr/>
        </p:nvSpPr>
        <p:spPr>
          <a:xfrm>
            <a:off x="1993392" y="777240"/>
            <a:ext cx="1572768" cy="32004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9"/>
          <p:cNvSpPr/>
          <p:nvPr/>
        </p:nvSpPr>
        <p:spPr>
          <a:xfrm>
            <a:off x="1993392" y="777240"/>
            <a:ext cx="1572768" cy="566928"/>
          </a:xfrm>
          <a:prstGeom prst="rect">
            <a:avLst/>
          </a:prstGeom>
          <a:solidFill>
            <a:srgbClr val="4C5C68"/>
          </a:solidFill>
          <a:ln w="12700">
            <a:solidFill>
              <a:srgbClr val="4C5C68"/>
            </a:solidFill>
            <a:prstDash val="solid"/>
          </a:ln>
        </p:spPr>
        <p:txBody>
          <a:bodyPr/>
          <a:lstStyle/>
          <a:p>
            <a:endParaRPr lang="en-US"/>
          </a:p>
        </p:txBody>
      </p:sp>
      <p:sp>
        <p:nvSpPr>
          <p:cNvPr id="12" name="Text 10"/>
          <p:cNvSpPr/>
          <p:nvPr/>
        </p:nvSpPr>
        <p:spPr>
          <a:xfrm>
            <a:off x="2039112" y="777240"/>
            <a:ext cx="14813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02</a:t>
            </a:r>
            <a:endParaRPr lang="en-US" sz="2200" dirty="0"/>
          </a:p>
        </p:txBody>
      </p:sp>
      <p:sp>
        <p:nvSpPr>
          <p:cNvPr id="13" name="Text 11"/>
          <p:cNvSpPr/>
          <p:nvPr/>
        </p:nvSpPr>
        <p:spPr>
          <a:xfrm>
            <a:off x="2066544" y="1389888"/>
            <a:ext cx="1426464" cy="658368"/>
          </a:xfrm>
          <a:prstGeom prst="rect">
            <a:avLst/>
          </a:prstGeom>
          <a:noFill/>
          <a:ln/>
        </p:spPr>
        <p:txBody>
          <a:bodyPr wrap="square" lIns="0" tIns="0" rIns="0" bIns="0" rtlCol="0" anchor="ctr"/>
          <a:lstStyle/>
          <a:p>
            <a:pPr marL="0" indent="0" algn="ctr">
              <a:buNone/>
            </a:pPr>
            <a:r>
              <a:rPr lang="en-US" sz="1200" b="1" dirty="0">
                <a:solidFill>
                  <a:srgbClr val="4C5C68"/>
                </a:solidFill>
                <a:latin typeface="Trebuchet MS" pitchFamily="34" charset="0"/>
                <a:ea typeface="Trebuchet MS" pitchFamily="34" charset="-122"/>
                <a:cs typeface="Trebuchet MS" pitchFamily="34" charset="-120"/>
              </a:rPr>
              <a:t>Novelty</a:t>
            </a:r>
            <a:endParaRPr lang="en-US" sz="1200" dirty="0"/>
          </a:p>
          <a:p>
            <a:pPr marL="0" indent="0" algn="ctr">
              <a:buNone/>
            </a:pPr>
            <a:r>
              <a:rPr lang="en-US" sz="1200" b="1" dirty="0">
                <a:solidFill>
                  <a:srgbClr val="4C5C68"/>
                </a:solidFill>
                <a:latin typeface="Trebuchet MS" pitchFamily="34" charset="0"/>
                <a:ea typeface="Trebuchet MS" pitchFamily="34" charset="-122"/>
                <a:cs typeface="Trebuchet MS" pitchFamily="34" charset="-120"/>
              </a:rPr>
              <a:t>Scoring</a:t>
            </a:r>
            <a:endParaRPr lang="en-US" sz="1200" dirty="0"/>
          </a:p>
        </p:txBody>
      </p:sp>
      <p:sp>
        <p:nvSpPr>
          <p:cNvPr id="14" name="Text 12"/>
          <p:cNvSpPr/>
          <p:nvPr/>
        </p:nvSpPr>
        <p:spPr>
          <a:xfrm>
            <a:off x="2084832" y="2048256"/>
            <a:ext cx="1389888" cy="1719072"/>
          </a:xfrm>
          <a:prstGeom prst="rect">
            <a:avLst/>
          </a:prstGeom>
          <a:noFill/>
          <a:ln/>
        </p:spPr>
        <p:txBody>
          <a:bodyPr wrap="square" lIns="0" tIns="0" rIns="0" bIns="0" rtlCol="0" anchor="t"/>
          <a:lstStyle/>
          <a:p>
            <a:pPr marL="0" indent="0" algn="ctr">
              <a:buNone/>
            </a:pPr>
            <a:r>
              <a:rPr lang="en-US" sz="1050" dirty="0">
                <a:solidFill>
                  <a:srgbClr val="46494C"/>
                </a:solidFill>
                <a:latin typeface="Calibri" pitchFamily="34" charset="0"/>
                <a:ea typeface="Calibri" pitchFamily="34" charset="-122"/>
                <a:cs typeface="Calibri" pitchFamily="34" charset="-120"/>
              </a:rPr>
              <a:t>1 − cos(embed, centroidₕᵢₛₜ)</a:t>
            </a:r>
            <a:endParaRPr lang="en-US" sz="1050" dirty="0"/>
          </a:p>
          <a:p>
            <a:pPr marL="0" indent="0" algn="ctr">
              <a:buNone/>
            </a:pPr>
            <a:r>
              <a:rPr lang="en-US" sz="1050" dirty="0">
                <a:solidFill>
                  <a:srgbClr val="46494C"/>
                </a:solidFill>
                <a:latin typeface="Calibri" pitchFamily="34" charset="0"/>
                <a:ea typeface="Calibri" pitchFamily="34" charset="-122"/>
                <a:cs typeface="Calibri" pitchFamily="34" charset="-120"/>
              </a:rPr>
              <a:t>Rolling 4-quarter or exp-decay baseline</a:t>
            </a:r>
            <a:endParaRPr lang="en-US" sz="1050" dirty="0"/>
          </a:p>
        </p:txBody>
      </p:sp>
      <p:sp>
        <p:nvSpPr>
          <p:cNvPr id="15" name="Shape 13"/>
          <p:cNvSpPr/>
          <p:nvPr/>
        </p:nvSpPr>
        <p:spPr>
          <a:xfrm>
            <a:off x="3566160" y="1874520"/>
            <a:ext cx="164592" cy="45720"/>
          </a:xfrm>
          <a:prstGeom prst="rect">
            <a:avLst/>
          </a:prstGeom>
          <a:solidFill>
            <a:srgbClr val="C5C3C6"/>
          </a:solidFill>
          <a:ln w="12700">
            <a:solidFill>
              <a:srgbClr val="C5C3C6"/>
            </a:solidFill>
            <a:prstDash val="solid"/>
          </a:ln>
        </p:spPr>
        <p:txBody>
          <a:bodyPr/>
          <a:lstStyle/>
          <a:p>
            <a:endParaRPr lang="en-US"/>
          </a:p>
        </p:txBody>
      </p:sp>
      <p:sp>
        <p:nvSpPr>
          <p:cNvPr id="16" name="Shape 14"/>
          <p:cNvSpPr/>
          <p:nvPr/>
        </p:nvSpPr>
        <p:spPr>
          <a:xfrm>
            <a:off x="3730752" y="777240"/>
            <a:ext cx="1572768" cy="32004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5"/>
          <p:cNvSpPr/>
          <p:nvPr/>
        </p:nvSpPr>
        <p:spPr>
          <a:xfrm>
            <a:off x="3730752" y="777240"/>
            <a:ext cx="1572768" cy="566928"/>
          </a:xfrm>
          <a:prstGeom prst="rect">
            <a:avLst/>
          </a:prstGeom>
          <a:solidFill>
            <a:srgbClr val="4C5C68"/>
          </a:solidFill>
          <a:ln w="12700">
            <a:solidFill>
              <a:srgbClr val="4C5C68"/>
            </a:solidFill>
            <a:prstDash val="solid"/>
          </a:ln>
        </p:spPr>
        <p:txBody>
          <a:bodyPr/>
          <a:lstStyle/>
          <a:p>
            <a:endParaRPr lang="en-US"/>
          </a:p>
        </p:txBody>
      </p:sp>
      <p:sp>
        <p:nvSpPr>
          <p:cNvPr id="18" name="Text 16"/>
          <p:cNvSpPr/>
          <p:nvPr/>
        </p:nvSpPr>
        <p:spPr>
          <a:xfrm>
            <a:off x="3776472" y="777240"/>
            <a:ext cx="14813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03</a:t>
            </a:r>
            <a:endParaRPr lang="en-US" sz="2200" dirty="0"/>
          </a:p>
        </p:txBody>
      </p:sp>
      <p:sp>
        <p:nvSpPr>
          <p:cNvPr id="19" name="Text 17"/>
          <p:cNvSpPr/>
          <p:nvPr/>
        </p:nvSpPr>
        <p:spPr>
          <a:xfrm>
            <a:off x="3803904" y="1389888"/>
            <a:ext cx="1426464" cy="658368"/>
          </a:xfrm>
          <a:prstGeom prst="rect">
            <a:avLst/>
          </a:prstGeom>
          <a:noFill/>
          <a:ln/>
        </p:spPr>
        <p:txBody>
          <a:bodyPr wrap="square" lIns="0" tIns="0" rIns="0" bIns="0" rtlCol="0" anchor="ctr"/>
          <a:lstStyle/>
          <a:p>
            <a:pPr marL="0" indent="0" algn="ctr">
              <a:buNone/>
            </a:pPr>
            <a:r>
              <a:rPr lang="en-US" sz="1200" b="1" dirty="0">
                <a:solidFill>
                  <a:srgbClr val="4C5C68"/>
                </a:solidFill>
                <a:latin typeface="Trebuchet MS" pitchFamily="34" charset="0"/>
                <a:ea typeface="Trebuchet MS" pitchFamily="34" charset="-122"/>
                <a:cs typeface="Trebuchet MS" pitchFamily="34" charset="-120"/>
              </a:rPr>
              <a:t>Salience</a:t>
            </a:r>
            <a:endParaRPr lang="en-US" sz="1200" dirty="0"/>
          </a:p>
          <a:p>
            <a:pPr marL="0" indent="0" algn="ctr">
              <a:buNone/>
            </a:pPr>
            <a:r>
              <a:rPr lang="en-US" sz="1200" b="1" dirty="0">
                <a:solidFill>
                  <a:srgbClr val="4C5C68"/>
                </a:solidFill>
                <a:latin typeface="Trebuchet MS" pitchFamily="34" charset="0"/>
                <a:ea typeface="Trebuchet MS" pitchFamily="34" charset="-122"/>
                <a:cs typeface="Trebuchet MS" pitchFamily="34" charset="-120"/>
              </a:rPr>
              <a:t>Filter</a:t>
            </a:r>
            <a:endParaRPr lang="en-US" sz="1200" dirty="0"/>
          </a:p>
        </p:txBody>
      </p:sp>
      <p:sp>
        <p:nvSpPr>
          <p:cNvPr id="20" name="Text 18"/>
          <p:cNvSpPr/>
          <p:nvPr/>
        </p:nvSpPr>
        <p:spPr>
          <a:xfrm>
            <a:off x="3822192" y="2048256"/>
            <a:ext cx="1389888" cy="1719072"/>
          </a:xfrm>
          <a:prstGeom prst="rect">
            <a:avLst/>
          </a:prstGeom>
          <a:noFill/>
          <a:ln/>
        </p:spPr>
        <p:txBody>
          <a:bodyPr wrap="square" lIns="0" tIns="0" rIns="0" bIns="0" rtlCol="0" anchor="t"/>
          <a:lstStyle/>
          <a:p>
            <a:pPr marL="0" indent="0" algn="ctr">
              <a:buNone/>
            </a:pPr>
            <a:r>
              <a:rPr lang="en-US" sz="1050" dirty="0">
                <a:solidFill>
                  <a:srgbClr val="46494C"/>
                </a:solidFill>
                <a:latin typeface="Calibri" pitchFamily="34" charset="0"/>
                <a:ea typeface="Calibri" pitchFamily="34" charset="-122"/>
                <a:cs typeface="Calibri" pitchFamily="34" charset="-120"/>
              </a:rPr>
              <a:t>26-cluster weighted dictionary</a:t>
            </a:r>
            <a:endParaRPr lang="en-US" sz="1050" dirty="0"/>
          </a:p>
          <a:p>
            <a:pPr marL="0" indent="0" algn="ctr">
              <a:buNone/>
            </a:pPr>
            <a:r>
              <a:rPr lang="en-US" sz="1050" dirty="0">
                <a:solidFill>
                  <a:srgbClr val="46494C"/>
                </a:solidFill>
                <a:latin typeface="Calibri" pitchFamily="34" charset="0"/>
                <a:ea typeface="Calibri" pitchFamily="34" charset="-122"/>
                <a:cs typeface="Calibri" pitchFamily="34" charset="-120"/>
              </a:rPr>
              <a:t>score ≥ 0.30 required to pass</a:t>
            </a:r>
            <a:endParaRPr lang="en-US" sz="1050" dirty="0"/>
          </a:p>
        </p:txBody>
      </p:sp>
      <p:sp>
        <p:nvSpPr>
          <p:cNvPr id="21" name="Shape 19"/>
          <p:cNvSpPr/>
          <p:nvPr/>
        </p:nvSpPr>
        <p:spPr>
          <a:xfrm>
            <a:off x="5303520" y="1874520"/>
            <a:ext cx="164592" cy="45720"/>
          </a:xfrm>
          <a:prstGeom prst="rect">
            <a:avLst/>
          </a:prstGeom>
          <a:solidFill>
            <a:srgbClr val="C5C3C6"/>
          </a:solidFill>
          <a:ln w="12700">
            <a:solidFill>
              <a:srgbClr val="C5C3C6"/>
            </a:solidFill>
            <a:prstDash val="solid"/>
          </a:ln>
        </p:spPr>
        <p:txBody>
          <a:bodyPr/>
          <a:lstStyle/>
          <a:p>
            <a:endParaRPr lang="en-US"/>
          </a:p>
        </p:txBody>
      </p:sp>
      <p:sp>
        <p:nvSpPr>
          <p:cNvPr id="22" name="Shape 20"/>
          <p:cNvSpPr/>
          <p:nvPr/>
        </p:nvSpPr>
        <p:spPr>
          <a:xfrm>
            <a:off x="5468112" y="777240"/>
            <a:ext cx="1572768" cy="32004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21"/>
          <p:cNvSpPr/>
          <p:nvPr/>
        </p:nvSpPr>
        <p:spPr>
          <a:xfrm>
            <a:off x="5468112" y="777240"/>
            <a:ext cx="1572768" cy="566928"/>
          </a:xfrm>
          <a:prstGeom prst="rect">
            <a:avLst/>
          </a:prstGeom>
          <a:solidFill>
            <a:srgbClr val="4C5C68"/>
          </a:solidFill>
          <a:ln w="12700">
            <a:solidFill>
              <a:srgbClr val="4C5C68"/>
            </a:solidFill>
            <a:prstDash val="solid"/>
          </a:ln>
        </p:spPr>
        <p:txBody>
          <a:bodyPr/>
          <a:lstStyle/>
          <a:p>
            <a:endParaRPr lang="en-US"/>
          </a:p>
        </p:txBody>
      </p:sp>
      <p:sp>
        <p:nvSpPr>
          <p:cNvPr id="24" name="Text 22"/>
          <p:cNvSpPr/>
          <p:nvPr/>
        </p:nvSpPr>
        <p:spPr>
          <a:xfrm>
            <a:off x="5513832" y="777240"/>
            <a:ext cx="14813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04</a:t>
            </a:r>
            <a:endParaRPr lang="en-US" sz="2200" dirty="0"/>
          </a:p>
        </p:txBody>
      </p:sp>
      <p:sp>
        <p:nvSpPr>
          <p:cNvPr id="25" name="Text 23"/>
          <p:cNvSpPr/>
          <p:nvPr/>
        </p:nvSpPr>
        <p:spPr>
          <a:xfrm>
            <a:off x="5541264" y="1389888"/>
            <a:ext cx="1426464" cy="658368"/>
          </a:xfrm>
          <a:prstGeom prst="rect">
            <a:avLst/>
          </a:prstGeom>
          <a:noFill/>
          <a:ln/>
        </p:spPr>
        <p:txBody>
          <a:bodyPr wrap="square" lIns="0" tIns="0" rIns="0" bIns="0" rtlCol="0" anchor="ctr"/>
          <a:lstStyle/>
          <a:p>
            <a:pPr marL="0" indent="0" algn="ctr">
              <a:buNone/>
            </a:pPr>
            <a:r>
              <a:rPr lang="en-US" sz="1200" b="1" dirty="0">
                <a:solidFill>
                  <a:srgbClr val="4C5C68"/>
                </a:solidFill>
                <a:latin typeface="Trebuchet MS" pitchFamily="34" charset="0"/>
                <a:ea typeface="Trebuchet MS" pitchFamily="34" charset="-122"/>
                <a:cs typeface="Trebuchet MS" pitchFamily="34" charset="-120"/>
              </a:rPr>
              <a:t>LLM Intent</a:t>
            </a:r>
            <a:endParaRPr lang="en-US" sz="1200" dirty="0"/>
          </a:p>
          <a:p>
            <a:pPr marL="0" indent="0" algn="ctr">
              <a:buNone/>
            </a:pPr>
            <a:r>
              <a:rPr lang="en-US" sz="1200" b="1" dirty="0">
                <a:solidFill>
                  <a:srgbClr val="4C5C68"/>
                </a:solidFill>
                <a:latin typeface="Trebuchet MS" pitchFamily="34" charset="0"/>
                <a:ea typeface="Trebuchet MS" pitchFamily="34" charset="-122"/>
                <a:cs typeface="Trebuchet MS" pitchFamily="34" charset="-120"/>
              </a:rPr>
              <a:t>Filter</a:t>
            </a:r>
            <a:endParaRPr lang="en-US" sz="1200" dirty="0"/>
          </a:p>
        </p:txBody>
      </p:sp>
      <p:sp>
        <p:nvSpPr>
          <p:cNvPr id="26" name="Text 24"/>
          <p:cNvSpPr/>
          <p:nvPr/>
        </p:nvSpPr>
        <p:spPr>
          <a:xfrm>
            <a:off x="5559552" y="2048256"/>
            <a:ext cx="1389888" cy="1719072"/>
          </a:xfrm>
          <a:prstGeom prst="rect">
            <a:avLst/>
          </a:prstGeom>
          <a:noFill/>
          <a:ln/>
        </p:spPr>
        <p:txBody>
          <a:bodyPr wrap="square" lIns="0" tIns="0" rIns="0" bIns="0" rtlCol="0" anchor="t"/>
          <a:lstStyle/>
          <a:p>
            <a:pPr marL="0" indent="0" algn="ctr">
              <a:buNone/>
            </a:pPr>
            <a:r>
              <a:rPr lang="en-US" sz="1050" dirty="0">
                <a:solidFill>
                  <a:srgbClr val="46494C"/>
                </a:solidFill>
                <a:latin typeface="Calibri" pitchFamily="34" charset="0"/>
                <a:ea typeface="Calibri" pitchFamily="34" charset="-122"/>
                <a:cs typeface="Calibri" pitchFamily="34" charset="-120"/>
              </a:rPr>
              <a:t>Ollama local LLM</a:t>
            </a:r>
            <a:endParaRPr lang="en-US" sz="1050" dirty="0"/>
          </a:p>
          <a:p>
            <a:pPr marL="0" indent="0" algn="ctr">
              <a:buNone/>
            </a:pPr>
            <a:r>
              <a:rPr lang="en-US" sz="1050" dirty="0">
                <a:solidFill>
                  <a:srgbClr val="46494C"/>
                </a:solidFill>
                <a:latin typeface="Calibri" pitchFamily="34" charset="0"/>
                <a:ea typeface="Calibri" pitchFamily="34" charset="-122"/>
                <a:cs typeface="Calibri" pitchFamily="34" charset="-120"/>
              </a:rPr>
              <a:t>Binary YES/NO: genuine business catalyst?</a:t>
            </a:r>
            <a:endParaRPr lang="en-US" sz="1050" dirty="0"/>
          </a:p>
        </p:txBody>
      </p:sp>
      <p:sp>
        <p:nvSpPr>
          <p:cNvPr id="27" name="Shape 25"/>
          <p:cNvSpPr/>
          <p:nvPr/>
        </p:nvSpPr>
        <p:spPr>
          <a:xfrm>
            <a:off x="7040880" y="1874520"/>
            <a:ext cx="164592" cy="45720"/>
          </a:xfrm>
          <a:prstGeom prst="rect">
            <a:avLst/>
          </a:prstGeom>
          <a:solidFill>
            <a:srgbClr val="C5C3C6"/>
          </a:solidFill>
          <a:ln w="12700">
            <a:solidFill>
              <a:srgbClr val="C5C3C6"/>
            </a:solidFill>
            <a:prstDash val="solid"/>
          </a:ln>
        </p:spPr>
        <p:txBody>
          <a:bodyPr/>
          <a:lstStyle/>
          <a:p>
            <a:endParaRPr lang="en-US"/>
          </a:p>
        </p:txBody>
      </p:sp>
      <p:sp>
        <p:nvSpPr>
          <p:cNvPr id="28" name="Shape 26"/>
          <p:cNvSpPr/>
          <p:nvPr/>
        </p:nvSpPr>
        <p:spPr>
          <a:xfrm>
            <a:off x="7205472" y="777240"/>
            <a:ext cx="1572768" cy="32004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9" name="Shape 27"/>
          <p:cNvSpPr/>
          <p:nvPr/>
        </p:nvSpPr>
        <p:spPr>
          <a:xfrm>
            <a:off x="7205472" y="777240"/>
            <a:ext cx="1572768" cy="566928"/>
          </a:xfrm>
          <a:prstGeom prst="rect">
            <a:avLst/>
          </a:prstGeom>
          <a:solidFill>
            <a:srgbClr val="4C5C68"/>
          </a:solidFill>
          <a:ln w="12700">
            <a:solidFill>
              <a:srgbClr val="4C5C68"/>
            </a:solidFill>
            <a:prstDash val="solid"/>
          </a:ln>
        </p:spPr>
        <p:txBody>
          <a:bodyPr/>
          <a:lstStyle/>
          <a:p>
            <a:endParaRPr lang="en-US"/>
          </a:p>
        </p:txBody>
      </p:sp>
      <p:sp>
        <p:nvSpPr>
          <p:cNvPr id="30" name="Text 28"/>
          <p:cNvSpPr/>
          <p:nvPr/>
        </p:nvSpPr>
        <p:spPr>
          <a:xfrm>
            <a:off x="7251192" y="777240"/>
            <a:ext cx="14813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05</a:t>
            </a:r>
            <a:endParaRPr lang="en-US" sz="2200" dirty="0"/>
          </a:p>
        </p:txBody>
      </p:sp>
      <p:sp>
        <p:nvSpPr>
          <p:cNvPr id="31" name="Text 29"/>
          <p:cNvSpPr/>
          <p:nvPr/>
        </p:nvSpPr>
        <p:spPr>
          <a:xfrm>
            <a:off x="7278624" y="1389888"/>
            <a:ext cx="1426464" cy="658368"/>
          </a:xfrm>
          <a:prstGeom prst="rect">
            <a:avLst/>
          </a:prstGeom>
          <a:noFill/>
          <a:ln/>
        </p:spPr>
        <p:txBody>
          <a:bodyPr wrap="square" lIns="0" tIns="0" rIns="0" bIns="0" rtlCol="0" anchor="ctr"/>
          <a:lstStyle/>
          <a:p>
            <a:pPr marL="0" indent="0" algn="ctr">
              <a:buNone/>
            </a:pPr>
            <a:r>
              <a:rPr lang="en-US" sz="1200" b="1" dirty="0">
                <a:solidFill>
                  <a:srgbClr val="4C5C68"/>
                </a:solidFill>
                <a:latin typeface="Trebuchet MS" pitchFamily="34" charset="0"/>
                <a:ea typeface="Trebuchet MS" pitchFamily="34" charset="-122"/>
                <a:cs typeface="Trebuchet MS" pitchFamily="34" charset="-120"/>
              </a:rPr>
              <a:t>Macro</a:t>
            </a:r>
            <a:endParaRPr lang="en-US" sz="1200" dirty="0"/>
          </a:p>
          <a:p>
            <a:pPr marL="0" indent="0" algn="ctr">
              <a:buNone/>
            </a:pPr>
            <a:r>
              <a:rPr lang="en-US" sz="1200" b="1" dirty="0">
                <a:solidFill>
                  <a:srgbClr val="4C5C68"/>
                </a:solidFill>
                <a:latin typeface="Trebuchet MS" pitchFamily="34" charset="0"/>
                <a:ea typeface="Trebuchet MS" pitchFamily="34" charset="-122"/>
                <a:cs typeface="Trebuchet MS" pitchFamily="34" charset="-120"/>
              </a:rPr>
              <a:t>Penalty</a:t>
            </a:r>
            <a:endParaRPr lang="en-US" sz="1200" dirty="0"/>
          </a:p>
        </p:txBody>
      </p:sp>
      <p:sp>
        <p:nvSpPr>
          <p:cNvPr id="32" name="Text 30"/>
          <p:cNvSpPr/>
          <p:nvPr/>
        </p:nvSpPr>
        <p:spPr>
          <a:xfrm>
            <a:off x="7296912" y="2048256"/>
            <a:ext cx="1389888" cy="1719072"/>
          </a:xfrm>
          <a:prstGeom prst="rect">
            <a:avLst/>
          </a:prstGeom>
          <a:noFill/>
          <a:ln/>
        </p:spPr>
        <p:txBody>
          <a:bodyPr wrap="square" lIns="0" tIns="0" rIns="0" bIns="0" rtlCol="0" anchor="t"/>
          <a:lstStyle/>
          <a:p>
            <a:pPr marL="0" indent="0" algn="ctr">
              <a:buNone/>
            </a:pPr>
            <a:r>
              <a:rPr lang="en-US" sz="1050" dirty="0">
                <a:solidFill>
                  <a:srgbClr val="46494C"/>
                </a:solidFill>
                <a:latin typeface="Calibri" pitchFamily="34" charset="0"/>
                <a:ea typeface="Calibri" pitchFamily="34" charset="-122"/>
                <a:cs typeface="Calibri" pitchFamily="34" charset="-120"/>
              </a:rPr>
              <a:t>Sigmoid decay at 40% cross-firm frequency; eliminates systemic topics</a:t>
            </a:r>
            <a:endParaRPr lang="en-US" sz="1050" dirty="0"/>
          </a:p>
        </p:txBody>
      </p:sp>
      <p:sp>
        <p:nvSpPr>
          <p:cNvPr id="33" name="Shape 31"/>
          <p:cNvSpPr/>
          <p:nvPr/>
        </p:nvSpPr>
        <p:spPr>
          <a:xfrm>
            <a:off x="256032" y="4160520"/>
            <a:ext cx="8631936" cy="841248"/>
          </a:xfrm>
          <a:prstGeom prst="rect">
            <a:avLst/>
          </a:prstGeom>
          <a:solidFill>
            <a:srgbClr val="4C5C68"/>
          </a:solidFill>
          <a:ln w="12700">
            <a:solidFill>
              <a:srgbClr val="4C5C68"/>
            </a:solidFill>
            <a:prstDash val="solid"/>
          </a:ln>
          <a:effectLst>
            <a:outerShdw blurRad="101600" dist="25400" dir="8100000" algn="bl" rotWithShape="0">
              <a:srgbClr val="000000">
                <a:alpha val="12000"/>
              </a:srgbClr>
            </a:outerShdw>
          </a:effectLst>
        </p:spPr>
        <p:txBody>
          <a:bodyPr/>
          <a:lstStyle/>
          <a:p>
            <a:endParaRPr lang="en-US"/>
          </a:p>
        </p:txBody>
      </p:sp>
      <p:sp>
        <p:nvSpPr>
          <p:cNvPr id="34" name="Text 32"/>
          <p:cNvSpPr/>
          <p:nvPr/>
        </p:nvSpPr>
        <p:spPr>
          <a:xfrm>
            <a:off x="457200" y="4178808"/>
            <a:ext cx="4572000" cy="384048"/>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  Output: Adjusted Novelty Score per firm-event</a:t>
            </a:r>
            <a:endParaRPr lang="en-US" sz="1400" dirty="0"/>
          </a:p>
        </p:txBody>
      </p:sp>
      <p:sp>
        <p:nvSpPr>
          <p:cNvPr id="35" name="Text 33"/>
          <p:cNvSpPr/>
          <p:nvPr/>
        </p:nvSpPr>
        <p:spPr>
          <a:xfrm>
            <a:off x="457200" y="4553712"/>
            <a:ext cx="8229600" cy="347472"/>
          </a:xfrm>
          <a:prstGeom prst="rect">
            <a:avLst/>
          </a:prstGeom>
          <a:noFill/>
          <a:ln/>
        </p:spPr>
        <p:txBody>
          <a:bodyPr wrap="square" lIns="0" tIns="0" rIns="0" bIns="0" rtlCol="0" anchor="ctr"/>
          <a:lstStyle/>
          <a:p>
            <a:pPr marL="0" indent="0">
              <a:buNone/>
            </a:pPr>
            <a:r>
              <a:rPr lang="en-US" sz="1100" i="1" dirty="0">
                <a:solidFill>
                  <a:srgbClr val="DCDCDD"/>
                </a:solidFill>
                <a:latin typeface="Calibri" pitchFamily="34" charset="0"/>
                <a:ea typeface="Calibri" pitchFamily="34" charset="-122"/>
                <a:cs typeface="Calibri" pitchFamily="34" charset="-120"/>
              </a:rPr>
              <a:t>Mean across gate-passing turns  ×  Cross-market frequency penalty  →  Within-quarter quintile Q1–Q5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5"/>
        </a:solidFill>
        <a:effectLst/>
      </p:bgPr>
    </p:bg>
    <p:spTree>
      <p:nvGrpSpPr>
        <p:cNvPr id="1" name="">
          <a:extLst>
            <a:ext uri="{FF2B5EF4-FFF2-40B4-BE49-F238E27FC236}">
              <a16:creationId xmlns:a16="http://schemas.microsoft.com/office/drawing/2014/main" id="{4A3939F7-FD53-4BFB-A6CB-872EC710914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49B594-49D9-9D19-A68F-E2566939E1A0}"/>
              </a:ext>
            </a:extLst>
          </p:cNvPr>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a:extLst>
              <a:ext uri="{FF2B5EF4-FFF2-40B4-BE49-F238E27FC236}">
                <a16:creationId xmlns:a16="http://schemas.microsoft.com/office/drawing/2014/main" id="{ADA0B71D-65CF-3111-AC46-43ED44F550D4}"/>
              </a:ext>
            </a:extLst>
          </p:cNvPr>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LLM Prompt</a:t>
            </a:r>
            <a:endParaRPr lang="en-US" sz="2200" dirty="0"/>
          </a:p>
        </p:txBody>
      </p:sp>
      <p:sp>
        <p:nvSpPr>
          <p:cNvPr id="33" name="Shape 31">
            <a:extLst>
              <a:ext uri="{FF2B5EF4-FFF2-40B4-BE49-F238E27FC236}">
                <a16:creationId xmlns:a16="http://schemas.microsoft.com/office/drawing/2014/main" id="{B5868336-B262-DFD7-311E-511881E5B934}"/>
              </a:ext>
            </a:extLst>
          </p:cNvPr>
          <p:cNvSpPr/>
          <p:nvPr/>
        </p:nvSpPr>
        <p:spPr>
          <a:xfrm>
            <a:off x="292608" y="4133088"/>
            <a:ext cx="8631936" cy="841248"/>
          </a:xfrm>
          <a:prstGeom prst="rect">
            <a:avLst/>
          </a:prstGeom>
          <a:solidFill>
            <a:srgbClr val="1A85A1"/>
          </a:solidFill>
          <a:ln w="12700">
            <a:solidFill>
              <a:srgbClr val="4C5C68"/>
            </a:solidFill>
            <a:prstDash val="solid"/>
          </a:ln>
          <a:effectLst>
            <a:outerShdw blurRad="101600" dist="25400" dir="8100000" algn="bl" rotWithShape="0">
              <a:srgbClr val="000000">
                <a:alpha val="12000"/>
              </a:srgbClr>
            </a:outerShdw>
          </a:effectLst>
        </p:spPr>
        <p:txBody>
          <a:bodyPr/>
          <a:lstStyle/>
          <a:p>
            <a:endParaRPr lang="en-US" dirty="0"/>
          </a:p>
        </p:txBody>
      </p:sp>
      <p:sp>
        <p:nvSpPr>
          <p:cNvPr id="34" name="Text 32">
            <a:extLst>
              <a:ext uri="{FF2B5EF4-FFF2-40B4-BE49-F238E27FC236}">
                <a16:creationId xmlns:a16="http://schemas.microsoft.com/office/drawing/2014/main" id="{3F97F137-5090-F079-3C82-46C147956EE6}"/>
              </a:ext>
            </a:extLst>
          </p:cNvPr>
          <p:cNvSpPr/>
          <p:nvPr/>
        </p:nvSpPr>
        <p:spPr>
          <a:xfrm>
            <a:off x="457200" y="4178808"/>
            <a:ext cx="4572000" cy="384048"/>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  Output: Filtered Sentences or Turns for Scoring</a:t>
            </a:r>
            <a:endParaRPr lang="en-US" sz="1400" dirty="0"/>
          </a:p>
        </p:txBody>
      </p:sp>
      <p:sp>
        <p:nvSpPr>
          <p:cNvPr id="35" name="Text 33">
            <a:extLst>
              <a:ext uri="{FF2B5EF4-FFF2-40B4-BE49-F238E27FC236}">
                <a16:creationId xmlns:a16="http://schemas.microsoft.com/office/drawing/2014/main" id="{2B5AE80A-081C-FE3D-4ABB-2EFC8262E895}"/>
              </a:ext>
            </a:extLst>
          </p:cNvPr>
          <p:cNvSpPr/>
          <p:nvPr/>
        </p:nvSpPr>
        <p:spPr>
          <a:xfrm>
            <a:off x="457200" y="4553712"/>
            <a:ext cx="8229600" cy="347472"/>
          </a:xfrm>
          <a:prstGeom prst="rect">
            <a:avLst/>
          </a:prstGeom>
          <a:noFill/>
          <a:ln/>
        </p:spPr>
        <p:txBody>
          <a:bodyPr wrap="square" lIns="0" tIns="0" rIns="0" bIns="0" rtlCol="0" anchor="ctr"/>
          <a:lstStyle/>
          <a:p>
            <a:pPr marL="0" indent="0">
              <a:buNone/>
            </a:pPr>
            <a:r>
              <a:rPr lang="en-US" sz="1100" i="1" dirty="0">
                <a:solidFill>
                  <a:srgbClr val="DCDCDD"/>
                </a:solidFill>
                <a:latin typeface="Calibri" pitchFamily="34" charset="0"/>
                <a:ea typeface="Calibri" pitchFamily="34" charset="-122"/>
                <a:cs typeface="Calibri" pitchFamily="34" charset="-120"/>
              </a:rPr>
              <a:t>Pass Rates (Sentences)/(Turns): (~5-10%)/(~40-50%)</a:t>
            </a:r>
            <a:endParaRPr lang="en-US" sz="1100" dirty="0"/>
          </a:p>
        </p:txBody>
      </p:sp>
      <p:pic>
        <p:nvPicPr>
          <p:cNvPr id="38" name="Picture 37">
            <a:extLst>
              <a:ext uri="{FF2B5EF4-FFF2-40B4-BE49-F238E27FC236}">
                <a16:creationId xmlns:a16="http://schemas.microsoft.com/office/drawing/2014/main" id="{2573367F-C513-4C4E-9502-C74D5933F169}"/>
              </a:ext>
            </a:extLst>
          </p:cNvPr>
          <p:cNvPicPr>
            <a:picLocks noChangeAspect="1"/>
          </p:cNvPicPr>
          <p:nvPr/>
        </p:nvPicPr>
        <p:blipFill>
          <a:blip r:embed="rId3"/>
          <a:stretch>
            <a:fillRect/>
          </a:stretch>
        </p:blipFill>
        <p:spPr>
          <a:xfrm>
            <a:off x="123952" y="713232"/>
            <a:ext cx="5994400" cy="1143000"/>
          </a:xfrm>
          <a:prstGeom prst="rect">
            <a:avLst/>
          </a:prstGeom>
        </p:spPr>
      </p:pic>
      <p:sp>
        <p:nvSpPr>
          <p:cNvPr id="39" name="Shape 17">
            <a:extLst>
              <a:ext uri="{FF2B5EF4-FFF2-40B4-BE49-F238E27FC236}">
                <a16:creationId xmlns:a16="http://schemas.microsoft.com/office/drawing/2014/main" id="{777A6718-8F12-A4A1-2BFD-BCEE28FDA681}"/>
              </a:ext>
            </a:extLst>
          </p:cNvPr>
          <p:cNvSpPr/>
          <p:nvPr/>
        </p:nvSpPr>
        <p:spPr>
          <a:xfrm>
            <a:off x="292608" y="1961388"/>
            <a:ext cx="3977640" cy="1773936"/>
          </a:xfrm>
          <a:prstGeom prst="rect">
            <a:avLst/>
          </a:prstGeom>
          <a:solidFill>
            <a:srgbClr val="DCDCDD"/>
          </a:solidFill>
          <a:ln w="12700">
            <a:solidFill>
              <a:srgbClr val="C5C3C6"/>
            </a:solidFill>
            <a:prstDash val="solid"/>
          </a:ln>
        </p:spPr>
        <p:txBody>
          <a:bodyPr/>
          <a:lstStyle/>
          <a:p>
            <a:endParaRPr lang="en-US" dirty="0"/>
          </a:p>
        </p:txBody>
      </p:sp>
      <p:sp>
        <p:nvSpPr>
          <p:cNvPr id="40" name="Text 18">
            <a:extLst>
              <a:ext uri="{FF2B5EF4-FFF2-40B4-BE49-F238E27FC236}">
                <a16:creationId xmlns:a16="http://schemas.microsoft.com/office/drawing/2014/main" id="{A39FCF38-3CE7-D24F-4855-A23B8E262F0A}"/>
              </a:ext>
            </a:extLst>
          </p:cNvPr>
          <p:cNvSpPr/>
          <p:nvPr/>
        </p:nvSpPr>
        <p:spPr>
          <a:xfrm>
            <a:off x="429768" y="1988820"/>
            <a:ext cx="3749040" cy="292608"/>
          </a:xfrm>
          <a:prstGeom prst="rect">
            <a:avLst/>
          </a:prstGeom>
          <a:noFill/>
          <a:ln/>
        </p:spPr>
        <p:txBody>
          <a:bodyPr wrap="square" lIns="0" tIns="0" rIns="0" bIns="0" rtlCol="0" anchor="ctr"/>
          <a:lstStyle/>
          <a:p>
            <a:pPr marL="0" indent="0">
              <a:buNone/>
            </a:pPr>
            <a:r>
              <a:rPr lang="en-US" sz="1100" b="1" dirty="0">
                <a:solidFill>
                  <a:srgbClr val="4C5C68"/>
                </a:solidFill>
                <a:latin typeface="Trebuchet MS" pitchFamily="34" charset="0"/>
              </a:rPr>
              <a:t>Sentence Level Filtering</a:t>
            </a:r>
            <a:endParaRPr lang="en-US" sz="1100" dirty="0"/>
          </a:p>
        </p:txBody>
      </p:sp>
      <p:sp>
        <p:nvSpPr>
          <p:cNvPr id="41" name="Text 19">
            <a:extLst>
              <a:ext uri="{FF2B5EF4-FFF2-40B4-BE49-F238E27FC236}">
                <a16:creationId xmlns:a16="http://schemas.microsoft.com/office/drawing/2014/main" id="{BC36AB41-2613-0291-563C-EA3CADEBB4BD}"/>
              </a:ext>
            </a:extLst>
          </p:cNvPr>
          <p:cNvSpPr/>
          <p:nvPr/>
        </p:nvSpPr>
        <p:spPr>
          <a:xfrm>
            <a:off x="429768" y="2642616"/>
            <a:ext cx="3703320" cy="411480"/>
          </a:xfrm>
          <a:prstGeom prst="rect">
            <a:avLst/>
          </a:prstGeom>
          <a:noFill/>
          <a:ln/>
        </p:spPr>
        <p:txBody>
          <a:bodyPr wrap="square" lIns="0" tIns="0" rIns="0" bIns="0" rtlCol="0" anchor="ctr"/>
          <a:lstStyle/>
          <a:p>
            <a:r>
              <a:rPr lang="en-US" sz="1050" dirty="0"/>
              <a:t>Ticker : NVDA  |  Quarter: 2024Q1</a:t>
            </a:r>
            <a:br>
              <a:rPr lang="en-US" sz="1050" dirty="0"/>
            </a:br>
            <a:r>
              <a:rPr lang="en-US" sz="1050" dirty="0"/>
              <a:t>Novelty: 0.922  |  Salience: 3.880  |  Cluster: </a:t>
            </a:r>
            <a:r>
              <a:rPr lang="en-US" sz="1050" dirty="0" err="1"/>
              <a:t>geographic_expansion</a:t>
            </a:r>
            <a:br>
              <a:rPr lang="en-US" sz="1050" dirty="0"/>
            </a:br>
            <a:r>
              <a:rPr lang="en-US" sz="1050" dirty="0"/>
              <a:t>Text   : Although we have not received licenses from the U.S. government to ship restricted products to China, we have started shipping alternatives that don't require a license for the China market....</a:t>
            </a:r>
          </a:p>
        </p:txBody>
      </p:sp>
      <p:sp>
        <p:nvSpPr>
          <p:cNvPr id="42" name="Shape 39">
            <a:extLst>
              <a:ext uri="{FF2B5EF4-FFF2-40B4-BE49-F238E27FC236}">
                <a16:creationId xmlns:a16="http://schemas.microsoft.com/office/drawing/2014/main" id="{AB141193-FC6F-557B-A46B-60C0AAEB50F1}"/>
              </a:ext>
            </a:extLst>
          </p:cNvPr>
          <p:cNvSpPr/>
          <p:nvPr/>
        </p:nvSpPr>
        <p:spPr>
          <a:xfrm>
            <a:off x="4544568" y="1961388"/>
            <a:ext cx="4343400" cy="1773936"/>
          </a:xfrm>
          <a:prstGeom prst="rect">
            <a:avLst/>
          </a:prstGeom>
          <a:solidFill>
            <a:srgbClr val="4C5C68"/>
          </a:solidFill>
          <a:ln w="12700">
            <a:solidFill>
              <a:srgbClr val="C5C3C6"/>
            </a:solidFill>
            <a:prstDash val="solid"/>
          </a:ln>
        </p:spPr>
        <p:txBody>
          <a:bodyPr/>
          <a:lstStyle/>
          <a:p>
            <a:endParaRPr lang="en-US"/>
          </a:p>
        </p:txBody>
      </p:sp>
      <p:sp>
        <p:nvSpPr>
          <p:cNvPr id="43" name="Text 40">
            <a:extLst>
              <a:ext uri="{FF2B5EF4-FFF2-40B4-BE49-F238E27FC236}">
                <a16:creationId xmlns:a16="http://schemas.microsoft.com/office/drawing/2014/main" id="{0F8C128E-544B-4C90-2BDB-3CB810A8DB45}"/>
              </a:ext>
            </a:extLst>
          </p:cNvPr>
          <p:cNvSpPr/>
          <p:nvPr/>
        </p:nvSpPr>
        <p:spPr>
          <a:xfrm>
            <a:off x="4645152" y="2322195"/>
            <a:ext cx="4069080" cy="1171194"/>
          </a:xfrm>
          <a:prstGeom prst="rect">
            <a:avLst/>
          </a:prstGeom>
          <a:noFill/>
          <a:ln/>
        </p:spPr>
        <p:txBody>
          <a:bodyPr wrap="square" lIns="0" tIns="0" rIns="0" bIns="0" rtlCol="0" anchor="ctr"/>
          <a:lstStyle/>
          <a:p>
            <a:r>
              <a:rPr lang="en-US" sz="1100" dirty="0">
                <a:solidFill>
                  <a:schemeClr val="bg1"/>
                </a:solidFill>
              </a:rPr>
              <a:t>Ticker : NVDA | Quarter: 2017Q1 | Transcript: 1128909.0 </a:t>
            </a:r>
            <a:br>
              <a:rPr lang="en-US" sz="1100" dirty="0">
                <a:solidFill>
                  <a:schemeClr val="bg1"/>
                </a:solidFill>
              </a:rPr>
            </a:br>
            <a:r>
              <a:rPr lang="en-US" sz="1100" dirty="0">
                <a:solidFill>
                  <a:schemeClr val="bg1"/>
                </a:solidFill>
              </a:rPr>
              <a:t>Novelty: 0.893 | Salience: 24.880 | Cluster: </a:t>
            </a:r>
            <a:r>
              <a:rPr lang="en-US" sz="1100" dirty="0" err="1">
                <a:solidFill>
                  <a:schemeClr val="bg1"/>
                </a:solidFill>
              </a:rPr>
              <a:t>technology_digital</a:t>
            </a:r>
            <a:r>
              <a:rPr lang="en-US" sz="1100" dirty="0">
                <a:solidFill>
                  <a:schemeClr val="bg1"/>
                </a:solidFill>
              </a:rPr>
              <a:t> </a:t>
            </a:r>
            <a:br>
              <a:rPr lang="en-US" sz="1100" dirty="0">
                <a:solidFill>
                  <a:schemeClr val="bg1"/>
                </a:solidFill>
              </a:rPr>
            </a:br>
            <a:r>
              <a:rPr lang="en-US" sz="1100" dirty="0">
                <a:solidFill>
                  <a:schemeClr val="bg1"/>
                </a:solidFill>
              </a:rPr>
              <a:t>Text : Now the reason why deep learning has just swept the world, it started with composition of networks but reinforcement networks and time sequence networks, and all kinds of interesting adversarial networks. The list of types of networks, I mean, there are 100 networks are being created a week. And our papers are coming out …</a:t>
            </a:r>
          </a:p>
        </p:txBody>
      </p:sp>
      <p:sp>
        <p:nvSpPr>
          <p:cNvPr id="44" name="Text 18">
            <a:extLst>
              <a:ext uri="{FF2B5EF4-FFF2-40B4-BE49-F238E27FC236}">
                <a16:creationId xmlns:a16="http://schemas.microsoft.com/office/drawing/2014/main" id="{BB274995-5BEA-4D42-BBDB-E2AE340A7B7B}"/>
              </a:ext>
            </a:extLst>
          </p:cNvPr>
          <p:cNvSpPr/>
          <p:nvPr/>
        </p:nvSpPr>
        <p:spPr>
          <a:xfrm>
            <a:off x="4681728" y="1970532"/>
            <a:ext cx="3749040" cy="292608"/>
          </a:xfrm>
          <a:prstGeom prst="rect">
            <a:avLst/>
          </a:prstGeom>
          <a:noFill/>
          <a:ln/>
        </p:spPr>
        <p:txBody>
          <a:bodyPr wrap="square" lIns="0" tIns="0" rIns="0" bIns="0" rtlCol="0" anchor="ctr"/>
          <a:lstStyle/>
          <a:p>
            <a:pPr marL="0" indent="0">
              <a:buNone/>
            </a:pPr>
            <a:r>
              <a:rPr lang="en-US" sz="1100" b="1" dirty="0">
                <a:solidFill>
                  <a:schemeClr val="bg1"/>
                </a:solidFill>
                <a:latin typeface="Trebuchet MS" pitchFamily="34" charset="0"/>
              </a:rPr>
              <a:t>Turn Level Filtering</a:t>
            </a:r>
            <a:endParaRPr lang="en-US" sz="1100" dirty="0">
              <a:solidFill>
                <a:schemeClr val="bg1"/>
              </a:solidFill>
            </a:endParaRPr>
          </a:p>
        </p:txBody>
      </p:sp>
    </p:spTree>
    <p:extLst>
      <p:ext uri="{BB962C8B-B14F-4D97-AF65-F5344CB8AC3E}">
        <p14:creationId xmlns:p14="http://schemas.microsoft.com/office/powerpoint/2010/main" val="485826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Adjusted Novelty Score Construction</a:t>
            </a:r>
            <a:endParaRPr lang="en-US" sz="2200" dirty="0"/>
          </a:p>
        </p:txBody>
      </p:sp>
      <p:sp>
        <p:nvSpPr>
          <p:cNvPr id="4" name="Shape 2"/>
          <p:cNvSpPr/>
          <p:nvPr/>
        </p:nvSpPr>
        <p:spPr>
          <a:xfrm>
            <a:off x="274320" y="777240"/>
            <a:ext cx="3977640" cy="329184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74320" y="777240"/>
            <a:ext cx="3977640" cy="411480"/>
          </a:xfrm>
          <a:prstGeom prst="rect">
            <a:avLst/>
          </a:prstGeom>
          <a:solidFill>
            <a:srgbClr val="1985A1"/>
          </a:solidFill>
          <a:ln w="12700">
            <a:solidFill>
              <a:srgbClr val="1985A1"/>
            </a:solidFill>
            <a:prstDash val="solid"/>
          </a:ln>
        </p:spPr>
        <p:txBody>
          <a:bodyPr/>
          <a:lstStyle/>
          <a:p>
            <a:endParaRPr lang="en-US"/>
          </a:p>
        </p:txBody>
      </p:sp>
      <p:sp>
        <p:nvSpPr>
          <p:cNvPr id="6" name="Text 4"/>
          <p:cNvSpPr/>
          <p:nvPr/>
        </p:nvSpPr>
        <p:spPr>
          <a:xfrm>
            <a:off x="411480" y="804672"/>
            <a:ext cx="3703320" cy="347472"/>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Stage 1 · Precision Gate  (ALL three must pass)</a:t>
            </a:r>
            <a:endParaRPr lang="en-US" sz="1250" dirty="0"/>
          </a:p>
        </p:txBody>
      </p:sp>
      <p:sp>
        <p:nvSpPr>
          <p:cNvPr id="7" name="Shape 5"/>
          <p:cNvSpPr/>
          <p:nvPr/>
        </p:nvSpPr>
        <p:spPr>
          <a:xfrm>
            <a:off x="438912" y="1316736"/>
            <a:ext cx="502920" cy="502920"/>
          </a:xfrm>
          <a:prstGeom prst="rect">
            <a:avLst/>
          </a:prstGeom>
          <a:solidFill>
            <a:srgbClr val="4C5C68"/>
          </a:solidFill>
          <a:ln w="12700">
            <a:solidFill>
              <a:srgbClr val="4C5C68"/>
            </a:solidFill>
            <a:prstDash val="solid"/>
          </a:ln>
        </p:spPr>
        <p:txBody>
          <a:bodyPr/>
          <a:lstStyle/>
          <a:p>
            <a:endParaRPr lang="en-US"/>
          </a:p>
        </p:txBody>
      </p:sp>
      <p:sp>
        <p:nvSpPr>
          <p:cNvPr id="8" name="Text 6"/>
          <p:cNvSpPr/>
          <p:nvPr/>
        </p:nvSpPr>
        <p:spPr>
          <a:xfrm>
            <a:off x="438912" y="1316736"/>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24128" y="1325880"/>
            <a:ext cx="3108960" cy="246888"/>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Novelty ≥ 0.60</a:t>
            </a:r>
            <a:endParaRPr lang="en-US" sz="1200" dirty="0"/>
          </a:p>
        </p:txBody>
      </p:sp>
      <p:sp>
        <p:nvSpPr>
          <p:cNvPr id="10" name="Text 8"/>
          <p:cNvSpPr/>
          <p:nvPr/>
        </p:nvSpPr>
        <p:spPr>
          <a:xfrm>
            <a:off x="1024128" y="1572768"/>
            <a:ext cx="3108960" cy="320040"/>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Turn semantically distant from firm historical centroid</a:t>
            </a:r>
            <a:endParaRPr lang="en-US" sz="1050" dirty="0"/>
          </a:p>
        </p:txBody>
      </p:sp>
      <p:sp>
        <p:nvSpPr>
          <p:cNvPr id="11" name="Shape 9"/>
          <p:cNvSpPr/>
          <p:nvPr/>
        </p:nvSpPr>
        <p:spPr>
          <a:xfrm>
            <a:off x="438912" y="2139696"/>
            <a:ext cx="502920" cy="502920"/>
          </a:xfrm>
          <a:prstGeom prst="rect">
            <a:avLst/>
          </a:prstGeom>
          <a:solidFill>
            <a:srgbClr val="4C5C68"/>
          </a:solidFill>
          <a:ln w="12700">
            <a:solidFill>
              <a:srgbClr val="4C5C68"/>
            </a:solidFill>
            <a:prstDash val="solid"/>
          </a:ln>
        </p:spPr>
        <p:txBody>
          <a:bodyPr/>
          <a:lstStyle/>
          <a:p>
            <a:endParaRPr lang="en-US"/>
          </a:p>
        </p:txBody>
      </p:sp>
      <p:sp>
        <p:nvSpPr>
          <p:cNvPr id="12" name="Text 10"/>
          <p:cNvSpPr/>
          <p:nvPr/>
        </p:nvSpPr>
        <p:spPr>
          <a:xfrm>
            <a:off x="438912" y="2139696"/>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024128" y="2148840"/>
            <a:ext cx="3108960" cy="246888"/>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Salience ≥ 0.30</a:t>
            </a:r>
            <a:endParaRPr lang="en-US" sz="1200" dirty="0"/>
          </a:p>
        </p:txBody>
      </p:sp>
      <p:sp>
        <p:nvSpPr>
          <p:cNvPr id="14" name="Text 12"/>
          <p:cNvSpPr/>
          <p:nvPr/>
        </p:nvSpPr>
        <p:spPr>
          <a:xfrm>
            <a:off x="1024128" y="2395728"/>
            <a:ext cx="3108960" cy="320040"/>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Turn contains financially material content (26-cluster dict)</a:t>
            </a:r>
            <a:endParaRPr lang="en-US" sz="1050" dirty="0"/>
          </a:p>
        </p:txBody>
      </p:sp>
      <p:sp>
        <p:nvSpPr>
          <p:cNvPr id="15" name="Shape 13"/>
          <p:cNvSpPr/>
          <p:nvPr/>
        </p:nvSpPr>
        <p:spPr>
          <a:xfrm>
            <a:off x="438912" y="2962656"/>
            <a:ext cx="502920" cy="502920"/>
          </a:xfrm>
          <a:prstGeom prst="rect">
            <a:avLst/>
          </a:prstGeom>
          <a:solidFill>
            <a:srgbClr val="4C5C68"/>
          </a:solidFill>
          <a:ln w="12700">
            <a:solidFill>
              <a:srgbClr val="4C5C68"/>
            </a:solidFill>
            <a:prstDash val="solid"/>
          </a:ln>
        </p:spPr>
        <p:txBody>
          <a:bodyPr/>
          <a:lstStyle/>
          <a:p>
            <a:endParaRPr lang="en-US"/>
          </a:p>
        </p:txBody>
      </p:sp>
      <p:sp>
        <p:nvSpPr>
          <p:cNvPr id="16" name="Text 14"/>
          <p:cNvSpPr/>
          <p:nvPr/>
        </p:nvSpPr>
        <p:spPr>
          <a:xfrm>
            <a:off x="438912" y="2962656"/>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024128" y="2971800"/>
            <a:ext cx="3108960" cy="246888"/>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LLM = YES</a:t>
            </a:r>
            <a:endParaRPr lang="en-US" sz="1200" dirty="0"/>
          </a:p>
        </p:txBody>
      </p:sp>
      <p:sp>
        <p:nvSpPr>
          <p:cNvPr id="18" name="Text 16"/>
          <p:cNvSpPr/>
          <p:nvPr/>
        </p:nvSpPr>
        <p:spPr>
          <a:xfrm>
            <a:off x="1024128" y="3218688"/>
            <a:ext cx="3108960" cy="320040"/>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Ollama classifies turn as genuine business catalyst</a:t>
            </a:r>
            <a:endParaRPr lang="en-US" sz="1050" dirty="0"/>
          </a:p>
        </p:txBody>
      </p:sp>
      <p:sp>
        <p:nvSpPr>
          <p:cNvPr id="19" name="Shape 17"/>
          <p:cNvSpPr/>
          <p:nvPr/>
        </p:nvSpPr>
        <p:spPr>
          <a:xfrm>
            <a:off x="274320" y="4160520"/>
            <a:ext cx="3977640" cy="841248"/>
          </a:xfrm>
          <a:prstGeom prst="rect">
            <a:avLst/>
          </a:prstGeom>
          <a:solidFill>
            <a:srgbClr val="DCDCDD"/>
          </a:solidFill>
          <a:ln w="12700">
            <a:solidFill>
              <a:srgbClr val="C5C3C6"/>
            </a:solidFill>
            <a:prstDash val="solid"/>
          </a:ln>
        </p:spPr>
        <p:txBody>
          <a:bodyPr/>
          <a:lstStyle/>
          <a:p>
            <a:endParaRPr lang="en-US"/>
          </a:p>
        </p:txBody>
      </p:sp>
      <p:sp>
        <p:nvSpPr>
          <p:cNvPr id="20" name="Text 18"/>
          <p:cNvSpPr/>
          <p:nvPr/>
        </p:nvSpPr>
        <p:spPr>
          <a:xfrm>
            <a:off x="411480" y="4187952"/>
            <a:ext cx="3749040" cy="292608"/>
          </a:xfrm>
          <a:prstGeom prst="rect">
            <a:avLst/>
          </a:prstGeom>
          <a:noFill/>
          <a:ln/>
        </p:spPr>
        <p:txBody>
          <a:bodyPr wrap="square" lIns="0" tIns="0" rIns="0" bIns="0" rtlCol="0" anchor="ctr"/>
          <a:lstStyle/>
          <a:p>
            <a:pPr marL="0" indent="0">
              <a:buNone/>
            </a:pPr>
            <a:r>
              <a:rPr lang="en-US" sz="1100" b="1" dirty="0">
                <a:solidFill>
                  <a:srgbClr val="4C5C68"/>
                </a:solidFill>
                <a:latin typeface="Trebuchet MS" pitchFamily="34" charset="0"/>
                <a:ea typeface="Trebuchet MS" pitchFamily="34" charset="-122"/>
                <a:cs typeface="Trebuchet MS" pitchFamily="34" charset="-120"/>
              </a:rPr>
              <a:t>Lexical Baselines (robustness)</a:t>
            </a:r>
            <a:endParaRPr lang="en-US" sz="1100" dirty="0"/>
          </a:p>
        </p:txBody>
      </p:sp>
      <p:sp>
        <p:nvSpPr>
          <p:cNvPr id="21" name="Text 19"/>
          <p:cNvSpPr/>
          <p:nvPr/>
        </p:nvSpPr>
        <p:spPr>
          <a:xfrm>
            <a:off x="411480" y="4480560"/>
            <a:ext cx="3703320" cy="411480"/>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Firm-level rolling TF-IDF  ·  3-month universe TF-IDF  ·  BM25 (k₁=1.5, b=0.75)</a:t>
            </a:r>
            <a:endParaRPr lang="en-US" sz="1050" dirty="0"/>
          </a:p>
        </p:txBody>
      </p:sp>
      <p:sp>
        <p:nvSpPr>
          <p:cNvPr id="22" name="Shape 20"/>
          <p:cNvSpPr/>
          <p:nvPr/>
        </p:nvSpPr>
        <p:spPr>
          <a:xfrm>
            <a:off x="4526280" y="777240"/>
            <a:ext cx="4343400" cy="329184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21"/>
          <p:cNvSpPr/>
          <p:nvPr/>
        </p:nvSpPr>
        <p:spPr>
          <a:xfrm>
            <a:off x="4526280" y="777240"/>
            <a:ext cx="4343400" cy="411480"/>
          </a:xfrm>
          <a:prstGeom prst="rect">
            <a:avLst/>
          </a:prstGeom>
          <a:solidFill>
            <a:srgbClr val="4C5C68"/>
          </a:solidFill>
          <a:ln w="12700">
            <a:solidFill>
              <a:srgbClr val="4C5C68"/>
            </a:solidFill>
            <a:prstDash val="solid"/>
          </a:ln>
        </p:spPr>
        <p:txBody>
          <a:bodyPr/>
          <a:lstStyle/>
          <a:p>
            <a:endParaRPr lang="en-US"/>
          </a:p>
        </p:txBody>
      </p:sp>
      <p:sp>
        <p:nvSpPr>
          <p:cNvPr id="24" name="Text 22"/>
          <p:cNvSpPr/>
          <p:nvPr/>
        </p:nvSpPr>
        <p:spPr>
          <a:xfrm>
            <a:off x="4663440" y="804672"/>
            <a:ext cx="4069080" cy="347472"/>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Stage 2 · Additive Strength Score  (gate-passing turns)</a:t>
            </a:r>
            <a:endParaRPr lang="en-US" sz="1250" dirty="0"/>
          </a:p>
        </p:txBody>
      </p:sp>
      <p:sp>
        <p:nvSpPr>
          <p:cNvPr id="25" name="Shape 23"/>
          <p:cNvSpPr/>
          <p:nvPr/>
        </p:nvSpPr>
        <p:spPr>
          <a:xfrm>
            <a:off x="4663440" y="1316736"/>
            <a:ext cx="402336" cy="402336"/>
          </a:xfrm>
          <a:prstGeom prst="rect">
            <a:avLst/>
          </a:prstGeom>
          <a:solidFill>
            <a:srgbClr val="1985A1"/>
          </a:solidFill>
          <a:ln w="12700">
            <a:solidFill>
              <a:srgbClr val="1985A1"/>
            </a:solidFill>
            <a:prstDash val="solid"/>
          </a:ln>
        </p:spPr>
        <p:txBody>
          <a:bodyPr/>
          <a:lstStyle/>
          <a:p>
            <a:endParaRPr lang="en-US"/>
          </a:p>
        </p:txBody>
      </p:sp>
      <p:sp>
        <p:nvSpPr>
          <p:cNvPr id="26" name="Text 24"/>
          <p:cNvSpPr/>
          <p:nvPr/>
        </p:nvSpPr>
        <p:spPr>
          <a:xfrm>
            <a:off x="4663440" y="131673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W</a:t>
            </a:r>
            <a:endParaRPr lang="en-US" sz="1400" dirty="0"/>
          </a:p>
        </p:txBody>
      </p:sp>
      <p:sp>
        <p:nvSpPr>
          <p:cNvPr id="27" name="Text 25"/>
          <p:cNvSpPr/>
          <p:nvPr/>
        </p:nvSpPr>
        <p:spPr>
          <a:xfrm>
            <a:off x="5157216" y="1316736"/>
            <a:ext cx="3584448" cy="228600"/>
          </a:xfrm>
          <a:prstGeom prst="rect">
            <a:avLst/>
          </a:prstGeom>
          <a:noFill/>
          <a:ln/>
        </p:spPr>
        <p:txBody>
          <a:bodyPr wrap="square" lIns="0" tIns="0" rIns="0" bIns="0" rtlCol="0" anchor="ctr"/>
          <a:lstStyle/>
          <a:p>
            <a:pPr marL="0" indent="0">
              <a:buNone/>
            </a:pPr>
            <a:r>
              <a:rPr lang="en-US" sz="1150" b="1" dirty="0">
                <a:solidFill>
                  <a:srgbClr val="4C5C68"/>
                </a:solidFill>
                <a:latin typeface="Trebuchet MS" pitchFamily="34" charset="0"/>
                <a:ea typeface="Trebuchet MS" pitchFamily="34" charset="-122"/>
                <a:cs typeface="Trebuchet MS" pitchFamily="34" charset="-120"/>
              </a:rPr>
              <a:t>Section Weight</a:t>
            </a:r>
            <a:endParaRPr lang="en-US" sz="1150" dirty="0"/>
          </a:p>
        </p:txBody>
      </p:sp>
      <p:sp>
        <p:nvSpPr>
          <p:cNvPr id="28" name="Text 26"/>
          <p:cNvSpPr/>
          <p:nvPr/>
        </p:nvSpPr>
        <p:spPr>
          <a:xfrm>
            <a:off x="5157216" y="1536192"/>
            <a:ext cx="3584448" cy="347472"/>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1.0 prepared remarks  /  1.5 Q&amp;A (less scripted, analyst-elicited)</a:t>
            </a:r>
            <a:endParaRPr lang="en-US" sz="1050" dirty="0"/>
          </a:p>
        </p:txBody>
      </p:sp>
      <p:sp>
        <p:nvSpPr>
          <p:cNvPr id="29" name="Shape 27"/>
          <p:cNvSpPr/>
          <p:nvPr/>
        </p:nvSpPr>
        <p:spPr>
          <a:xfrm>
            <a:off x="4663440" y="1984248"/>
            <a:ext cx="402336" cy="402336"/>
          </a:xfrm>
          <a:prstGeom prst="rect">
            <a:avLst/>
          </a:prstGeom>
          <a:solidFill>
            <a:srgbClr val="1985A1"/>
          </a:solidFill>
          <a:ln w="12700">
            <a:solidFill>
              <a:srgbClr val="1985A1"/>
            </a:solidFill>
            <a:prstDash val="solid"/>
          </a:ln>
        </p:spPr>
        <p:txBody>
          <a:bodyPr/>
          <a:lstStyle/>
          <a:p>
            <a:endParaRPr lang="en-US"/>
          </a:p>
        </p:txBody>
      </p:sp>
      <p:sp>
        <p:nvSpPr>
          <p:cNvPr id="30" name="Text 28"/>
          <p:cNvSpPr/>
          <p:nvPr/>
        </p:nvSpPr>
        <p:spPr>
          <a:xfrm>
            <a:off x="4663440" y="19842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a:t>
            </a:r>
            <a:endParaRPr lang="en-US" sz="1400" dirty="0"/>
          </a:p>
        </p:txBody>
      </p:sp>
      <p:sp>
        <p:nvSpPr>
          <p:cNvPr id="31" name="Text 29"/>
          <p:cNvSpPr/>
          <p:nvPr/>
        </p:nvSpPr>
        <p:spPr>
          <a:xfrm>
            <a:off x="5157216" y="1984248"/>
            <a:ext cx="3584448" cy="228600"/>
          </a:xfrm>
          <a:prstGeom prst="rect">
            <a:avLst/>
          </a:prstGeom>
          <a:noFill/>
          <a:ln/>
        </p:spPr>
        <p:txBody>
          <a:bodyPr wrap="square" lIns="0" tIns="0" rIns="0" bIns="0" rtlCol="0" anchor="ctr"/>
          <a:lstStyle/>
          <a:p>
            <a:pPr marL="0" indent="0">
              <a:buNone/>
            </a:pPr>
            <a:r>
              <a:rPr lang="en-US" sz="1150" b="1" dirty="0">
                <a:solidFill>
                  <a:srgbClr val="4C5C68"/>
                </a:solidFill>
                <a:latin typeface="Trebuchet MS" pitchFamily="34" charset="0"/>
                <a:ea typeface="Trebuchet MS" pitchFamily="34" charset="-122"/>
                <a:cs typeface="Trebuchet MS" pitchFamily="34" charset="-120"/>
              </a:rPr>
              <a:t>Analyst Attention</a:t>
            </a:r>
            <a:endParaRPr lang="en-US" sz="1150" dirty="0"/>
          </a:p>
        </p:txBody>
      </p:sp>
      <p:sp>
        <p:nvSpPr>
          <p:cNvPr id="32" name="Text 30"/>
          <p:cNvSpPr/>
          <p:nvPr/>
        </p:nvSpPr>
        <p:spPr>
          <a:xfrm>
            <a:off x="5157216" y="2203704"/>
            <a:ext cx="3584448" cy="347472"/>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Fraction of unique analysts probing the topic cluster (revealed-preference filter)</a:t>
            </a:r>
            <a:endParaRPr lang="en-US" sz="1050" dirty="0"/>
          </a:p>
        </p:txBody>
      </p:sp>
      <p:sp>
        <p:nvSpPr>
          <p:cNvPr id="33" name="Shape 31"/>
          <p:cNvSpPr/>
          <p:nvPr/>
        </p:nvSpPr>
        <p:spPr>
          <a:xfrm>
            <a:off x="4663440" y="2651760"/>
            <a:ext cx="402336" cy="402336"/>
          </a:xfrm>
          <a:prstGeom prst="rect">
            <a:avLst/>
          </a:prstGeom>
          <a:solidFill>
            <a:srgbClr val="1985A1"/>
          </a:solidFill>
          <a:ln w="12700">
            <a:solidFill>
              <a:srgbClr val="1985A1"/>
            </a:solidFill>
            <a:prstDash val="solid"/>
          </a:ln>
        </p:spPr>
        <p:txBody>
          <a:bodyPr/>
          <a:lstStyle/>
          <a:p>
            <a:endParaRPr lang="en-US"/>
          </a:p>
        </p:txBody>
      </p:sp>
      <p:sp>
        <p:nvSpPr>
          <p:cNvPr id="34" name="Text 32"/>
          <p:cNvSpPr/>
          <p:nvPr/>
        </p:nvSpPr>
        <p:spPr>
          <a:xfrm>
            <a:off x="4663440" y="26517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a:t>
            </a:r>
            <a:endParaRPr lang="en-US" sz="1400" dirty="0"/>
          </a:p>
        </p:txBody>
      </p:sp>
      <p:sp>
        <p:nvSpPr>
          <p:cNvPr id="35" name="Text 33"/>
          <p:cNvSpPr/>
          <p:nvPr/>
        </p:nvSpPr>
        <p:spPr>
          <a:xfrm>
            <a:off x="5157216" y="2651760"/>
            <a:ext cx="3584448" cy="228600"/>
          </a:xfrm>
          <a:prstGeom prst="rect">
            <a:avLst/>
          </a:prstGeom>
          <a:noFill/>
          <a:ln/>
        </p:spPr>
        <p:txBody>
          <a:bodyPr wrap="square" lIns="0" tIns="0" rIns="0" bIns="0" rtlCol="0" anchor="ctr"/>
          <a:lstStyle/>
          <a:p>
            <a:pPr marL="0" indent="0">
              <a:buNone/>
            </a:pPr>
            <a:r>
              <a:rPr lang="en-US" sz="1150" b="1" dirty="0">
                <a:solidFill>
                  <a:srgbClr val="4C5C68"/>
                </a:solidFill>
                <a:latin typeface="Trebuchet MS" pitchFamily="34" charset="0"/>
                <a:ea typeface="Trebuchet MS" pitchFamily="34" charset="-122"/>
                <a:cs typeface="Trebuchet MS" pitchFamily="34" charset="-120"/>
              </a:rPr>
              <a:t>Topic Depth</a:t>
            </a:r>
            <a:endParaRPr lang="en-US" sz="1150" dirty="0"/>
          </a:p>
        </p:txBody>
      </p:sp>
      <p:sp>
        <p:nvSpPr>
          <p:cNvPr id="36" name="Text 34"/>
          <p:cNvSpPr/>
          <p:nvPr/>
        </p:nvSpPr>
        <p:spPr>
          <a:xfrm>
            <a:off x="5157216" y="2871216"/>
            <a:ext cx="3584448" cy="347472"/>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Turn fraction per cluster, normalized by median, capped at 2.0×</a:t>
            </a:r>
            <a:endParaRPr lang="en-US" sz="1050" dirty="0"/>
          </a:p>
        </p:txBody>
      </p:sp>
      <p:sp>
        <p:nvSpPr>
          <p:cNvPr id="37" name="Shape 35"/>
          <p:cNvSpPr/>
          <p:nvPr/>
        </p:nvSpPr>
        <p:spPr>
          <a:xfrm>
            <a:off x="4663440" y="3319272"/>
            <a:ext cx="402336" cy="402336"/>
          </a:xfrm>
          <a:prstGeom prst="rect">
            <a:avLst/>
          </a:prstGeom>
          <a:solidFill>
            <a:srgbClr val="1985A1"/>
          </a:solidFill>
          <a:ln w="12700">
            <a:solidFill>
              <a:srgbClr val="1985A1"/>
            </a:solidFill>
            <a:prstDash val="solid"/>
          </a:ln>
        </p:spPr>
        <p:txBody>
          <a:bodyPr/>
          <a:lstStyle/>
          <a:p>
            <a:endParaRPr lang="en-US"/>
          </a:p>
        </p:txBody>
      </p:sp>
      <p:sp>
        <p:nvSpPr>
          <p:cNvPr id="38" name="Text 36"/>
          <p:cNvSpPr/>
          <p:nvPr/>
        </p:nvSpPr>
        <p:spPr>
          <a:xfrm>
            <a:off x="4663440" y="33192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P</a:t>
            </a:r>
            <a:endParaRPr lang="en-US" sz="1400" dirty="0"/>
          </a:p>
        </p:txBody>
      </p:sp>
      <p:sp>
        <p:nvSpPr>
          <p:cNvPr id="39" name="Text 37"/>
          <p:cNvSpPr/>
          <p:nvPr/>
        </p:nvSpPr>
        <p:spPr>
          <a:xfrm>
            <a:off x="5157216" y="3319272"/>
            <a:ext cx="3584448" cy="228600"/>
          </a:xfrm>
          <a:prstGeom prst="rect">
            <a:avLst/>
          </a:prstGeom>
          <a:noFill/>
          <a:ln/>
        </p:spPr>
        <p:txBody>
          <a:bodyPr wrap="square" lIns="0" tIns="0" rIns="0" bIns="0" rtlCol="0" anchor="ctr"/>
          <a:lstStyle/>
          <a:p>
            <a:pPr marL="0" indent="0">
              <a:buNone/>
            </a:pPr>
            <a:r>
              <a:rPr lang="en-US" sz="1150" b="1" dirty="0">
                <a:solidFill>
                  <a:srgbClr val="4C5C68"/>
                </a:solidFill>
                <a:latin typeface="Trebuchet MS" pitchFamily="34" charset="0"/>
                <a:ea typeface="Trebuchet MS" pitchFamily="34" charset="-122"/>
                <a:cs typeface="Trebuchet MS" pitchFamily="34" charset="-120"/>
              </a:rPr>
              <a:t>Macro Penalty</a:t>
            </a:r>
            <a:endParaRPr lang="en-US" sz="1150" dirty="0"/>
          </a:p>
        </p:txBody>
      </p:sp>
      <p:sp>
        <p:nvSpPr>
          <p:cNvPr id="40" name="Text 38"/>
          <p:cNvSpPr/>
          <p:nvPr/>
        </p:nvSpPr>
        <p:spPr>
          <a:xfrm>
            <a:off x="5157216" y="3538728"/>
            <a:ext cx="3584448" cy="347472"/>
          </a:xfrm>
          <a:prstGeom prst="rect">
            <a:avLst/>
          </a:prstGeom>
          <a:noFill/>
          <a:ln/>
        </p:spPr>
        <p:txBody>
          <a:bodyPr wrap="square" lIns="0" tIns="0" rIns="0" bIns="0" rtlCol="0" anchor="ctr"/>
          <a:lstStyle/>
          <a:p>
            <a:pPr marL="0" indent="0">
              <a:buNone/>
            </a:pPr>
            <a:r>
              <a:rPr lang="en-US" sz="1050" dirty="0">
                <a:solidFill>
                  <a:srgbClr val="46494C"/>
                </a:solidFill>
                <a:latin typeface="Calibri" pitchFamily="34" charset="0"/>
                <a:ea typeface="Calibri" pitchFamily="34" charset="-122"/>
                <a:cs typeface="Calibri" pitchFamily="34" charset="-120"/>
              </a:rPr>
              <a:t>Sigmoid decay: f₀=0.40, k=15 — smooth discount for systemic topics</a:t>
            </a:r>
            <a:endParaRPr lang="en-US" sz="1050" dirty="0"/>
          </a:p>
        </p:txBody>
      </p:sp>
      <p:sp>
        <p:nvSpPr>
          <p:cNvPr id="41" name="Shape 39"/>
          <p:cNvSpPr/>
          <p:nvPr/>
        </p:nvSpPr>
        <p:spPr>
          <a:xfrm>
            <a:off x="4526280" y="4160520"/>
            <a:ext cx="4343400" cy="841248"/>
          </a:xfrm>
          <a:prstGeom prst="rect">
            <a:avLst/>
          </a:prstGeom>
          <a:solidFill>
            <a:srgbClr val="4C5C68"/>
          </a:solidFill>
          <a:ln w="12700">
            <a:solidFill>
              <a:srgbClr val="C5C3C6"/>
            </a:solidFill>
            <a:prstDash val="solid"/>
          </a:ln>
        </p:spPr>
        <p:txBody>
          <a:bodyPr/>
          <a:lstStyle/>
          <a:p>
            <a:endParaRPr lang="en-US"/>
          </a:p>
        </p:txBody>
      </p:sp>
      <p:sp>
        <p:nvSpPr>
          <p:cNvPr id="42" name="Text 40"/>
          <p:cNvSpPr/>
          <p:nvPr/>
        </p:nvSpPr>
        <p:spPr>
          <a:xfrm>
            <a:off x="4663440" y="4251960"/>
            <a:ext cx="4069080" cy="5943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AdjNovFinal  =  AdjNov × (⅓ section + ⅓ attention + ⅓ depth) × penalty(f)</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384048" y="54864"/>
            <a:ext cx="8412480" cy="512064"/>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Top 10 Most Novel + Salient Sentences — Illustrative Examples</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954039300"/>
              </p:ext>
            </p:extLst>
          </p:nvPr>
        </p:nvGraphicFramePr>
        <p:xfrm>
          <a:off x="256032" y="694944"/>
          <a:ext cx="8778240" cy="4425696"/>
        </p:xfrm>
        <a:graphic>
          <a:graphicData uri="http://schemas.openxmlformats.org/drawingml/2006/table">
            <a:tbl>
              <a:tblPr/>
              <a:tblGrid>
                <a:gridCol w="658368">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530352">
                  <a:extLst>
                    <a:ext uri="{9D8B030D-6E8A-4147-A177-3AD203B41FA5}">
                      <a16:colId xmlns:a16="http://schemas.microsoft.com/office/drawing/2014/main" val="20002"/>
                    </a:ext>
                  </a:extLst>
                </a:gridCol>
                <a:gridCol w="530352">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5212080">
                  <a:extLst>
                    <a:ext uri="{9D8B030D-6E8A-4147-A177-3AD203B41FA5}">
                      <a16:colId xmlns:a16="http://schemas.microsoft.com/office/drawing/2014/main" val="20005"/>
                    </a:ext>
                  </a:extLst>
                </a:gridCol>
              </a:tblGrid>
              <a:tr h="402336">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Ticker</a:t>
                      </a:r>
                      <a:endParaRPr lang="en-US" sz="950" dirty="0">
                        <a:latin typeface="Trebuchet MS" charset="0"/>
                        <a:ea typeface="Trebuchet MS" charset="0"/>
                        <a:cs typeface="Trebuchet MS"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1985A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Quarter</a:t>
                      </a:r>
                      <a:endParaRPr lang="en-US" sz="950" dirty="0">
                        <a:latin typeface="Trebuchet MS" charset="0"/>
                        <a:ea typeface="Trebuchet MS" charset="0"/>
                        <a:cs typeface="Trebuchet MS"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1985A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Novelty</a:t>
                      </a:r>
                      <a:endParaRPr lang="en-US" sz="950" dirty="0">
                        <a:latin typeface="Trebuchet MS" charset="0"/>
                        <a:ea typeface="Trebuchet MS" charset="0"/>
                        <a:cs typeface="Trebuchet MS"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1985A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Salience</a:t>
                      </a:r>
                      <a:endParaRPr lang="en-US" sz="950" dirty="0">
                        <a:latin typeface="Trebuchet MS" charset="0"/>
                        <a:ea typeface="Trebuchet MS" charset="0"/>
                        <a:cs typeface="Trebuchet MS"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1985A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Cluster</a:t>
                      </a:r>
                      <a:endParaRPr lang="en-US" sz="950" dirty="0">
                        <a:latin typeface="Trebuchet MS" charset="0"/>
                        <a:ea typeface="Trebuchet MS" charset="0"/>
                        <a:cs typeface="Trebuchet MS"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1985A1"/>
                    </a:solidFill>
                  </a:tcPr>
                </a:tc>
                <a:tc>
                  <a:txBody>
                    <a:bodyPr/>
                    <a:lstStyle/>
                    <a:p>
                      <a:pPr marL="0" indent="0" algn="ctr">
                        <a:buNone/>
                      </a:pPr>
                      <a:r>
                        <a:rPr lang="en-US" sz="950" b="1" dirty="0">
                          <a:solidFill>
                            <a:srgbClr val="FFFFFF"/>
                          </a:solidFill>
                          <a:latin typeface="Trebuchet MS" pitchFamily="34" charset="0"/>
                          <a:ea typeface="Trebuchet MS" pitchFamily="34" charset="-122"/>
                          <a:cs typeface="Trebuchet MS" pitchFamily="34" charset="-120"/>
                        </a:rPr>
                        <a:t>Key Insight</a:t>
                      </a:r>
                      <a:endParaRPr lang="en-US" sz="950" dirty="0">
                        <a:latin typeface="Trebuchet MS" charset="0"/>
                        <a:ea typeface="Trebuchet MS" charset="0"/>
                        <a:cs typeface="Trebuchet MS"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1985A1"/>
                    </a:solidFill>
                  </a:tcPr>
                </a:tc>
                <a:extLst>
                  <a:ext uri="{0D108BD9-81ED-4DB2-BD59-A6C34878D82A}">
                    <a16:rowId xmlns:a16="http://schemas.microsoft.com/office/drawing/2014/main" val="10000"/>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NVDA</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2017Q1</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0.909</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24.9</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technology</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Jensen explains deep learning as software that writes itself from data — GPUs as the enabling infrastructure for modern AI</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NVDA</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2011Q1</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0.876</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guidance</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Royalties are an ongoing, innovation-driven revenue line — not one-offs — and will remain core to the business model going forward</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extLst>
                  <a:ext uri="{0D108BD9-81ED-4DB2-BD59-A6C34878D82A}">
                    <a16:rowId xmlns:a16="http://schemas.microsoft.com/office/drawing/2014/main" val="10002"/>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MSFT</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2024Q4</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0.869</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44.8</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technology</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Copilot → Copilot Studio → autonomous agents: full AI system stack described, with Azure as underlying platform for developers to replicate it</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AAPL</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2017Q3</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0.859</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geo expansion</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Analyst asks about Trump's 'big beautiful plans' pledge and Apple's working relationship with Chinese government</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extLst>
                  <a:ext uri="{0D108BD9-81ED-4DB2-BD59-A6C34878D82A}">
                    <a16:rowId xmlns:a16="http://schemas.microsoft.com/office/drawing/2014/main" val="10004"/>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NVDA</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2015Q3</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0.845</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product innov</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Deep learning + sensor fusion (LiDAR, radar, sonar, camera) described as the only viable path to full autonomous driving</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NVDA</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2016Q1</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0.841</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22.1</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technology</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GPU-accelerated deep learning framed as a new computing paradigm — every hyperscaler and every industry will adopt it</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extLst>
                  <a:ext uri="{0D108BD9-81ED-4DB2-BD59-A6C34878D82A}">
                    <a16:rowId xmlns:a16="http://schemas.microsoft.com/office/drawing/2014/main" val="10006"/>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MSFT</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2011Q3</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0.836</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2.9</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product innov</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Analyst asks how to model Android patent royalty income and which segment it would appear in</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NVDA</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2011Q1</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0.828</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guidance</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28nm not available this year; 40nm more economical through mid-next year — production ramp on track with high yields</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extLst>
                  <a:ext uri="{0D108BD9-81ED-4DB2-BD59-A6C34878D82A}">
                    <a16:rowId xmlns:a16="http://schemas.microsoft.com/office/drawing/2014/main" val="10008"/>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NVDA</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2023Q2</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0.823</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technology</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Analyst probes inference vs. training split for generative AI — is inference 5x or 10x the opportunity vs. training?</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AAPL</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2015Q1</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0.812</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ctr">
                        <a:buNone/>
                      </a:pPr>
                      <a:r>
                        <a:rPr lang="en-US" sz="950" b="1" dirty="0">
                          <a:solidFill>
                            <a:srgbClr val="46494C"/>
                          </a:solidFill>
                          <a:latin typeface="Calibri" pitchFamily="34" charset="0"/>
                          <a:ea typeface="Calibri" pitchFamily="34" charset="-122"/>
                          <a:cs typeface="Calibri" pitchFamily="34" charset="-120"/>
                        </a:rPr>
                        <a:t>0.9</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50" dirty="0">
                          <a:solidFill>
                            <a:srgbClr val="46494C"/>
                          </a:solidFill>
                          <a:latin typeface="Calibri" pitchFamily="34" charset="0"/>
                          <a:ea typeface="Calibri" pitchFamily="34" charset="-122"/>
                          <a:cs typeface="Calibri" pitchFamily="34" charset="-120"/>
                        </a:rPr>
                        <a:t>cost structure</a:t>
                      </a:r>
                      <a:endParaRPr lang="en-US" sz="95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tc>
                  <a:txBody>
                    <a:bodyPr/>
                    <a:lstStyle/>
                    <a:p>
                      <a:pPr marL="0" indent="0" algn="l">
                        <a:buNone/>
                      </a:pPr>
                      <a:r>
                        <a:rPr lang="en-US" sz="900" dirty="0">
                          <a:solidFill>
                            <a:srgbClr val="46494C"/>
                          </a:solidFill>
                          <a:latin typeface="Calibri" pitchFamily="34" charset="0"/>
                          <a:ea typeface="Calibri" pitchFamily="34" charset="-122"/>
                          <a:cs typeface="Calibri" pitchFamily="34" charset="-120"/>
                        </a:rPr>
                        <a:t>Some FX exposures are unhedgeable (no instruments or prohibitive cost) — full volatility pass-through in those regions</a:t>
                      </a:r>
                      <a:endParaRPr lang="en-US" sz="900" dirty="0">
                        <a:latin typeface="Calibri" charset="0"/>
                        <a:ea typeface="Calibri" charset="0"/>
                        <a:cs typeface="Calibri" charset="0"/>
                      </a:endParaRPr>
                    </a:p>
                  </a:txBody>
                  <a:tcPr anchor="ctr">
                    <a:lnL w="5080" cap="flat" cmpd="sng" algn="ctr">
                      <a:solidFill>
                        <a:srgbClr val="C5C3C6"/>
                      </a:solidFill>
                      <a:prstDash val="solid"/>
                      <a:round/>
                      <a:headEnd type="none" w="med" len="med"/>
                      <a:tailEnd type="none" w="med" len="med"/>
                    </a:lnL>
                    <a:lnR w="5080" cap="flat" cmpd="sng" algn="ctr">
                      <a:solidFill>
                        <a:srgbClr val="C5C3C6"/>
                      </a:solidFill>
                      <a:prstDash val="solid"/>
                      <a:round/>
                      <a:headEnd type="none" w="med" len="med"/>
                      <a:tailEnd type="none" w="med" len="med"/>
                    </a:lnR>
                    <a:lnT w="5080" cap="flat" cmpd="sng" algn="ctr">
                      <a:solidFill>
                        <a:srgbClr val="C5C3C6"/>
                      </a:solidFill>
                      <a:prstDash val="solid"/>
                      <a:round/>
                      <a:headEnd type="none" w="med" len="med"/>
                      <a:tailEnd type="none" w="med" len="med"/>
                    </a:lnT>
                    <a:lnB w="5080" cap="flat" cmpd="sng" algn="ctr">
                      <a:solidFill>
                        <a:srgbClr val="C5C3C6"/>
                      </a:solidFill>
                      <a:prstDash val="solid"/>
                      <a:round/>
                      <a:headEnd type="none" w="med" len="med"/>
                      <a:tailEnd type="none" w="med" len="med"/>
                    </a:lnB>
                    <a:solidFill>
                      <a:srgbClr val="ECEEF0"/>
                    </a:solidFill>
                  </a:tcPr>
                </a:tc>
                <a:extLst>
                  <a:ext uri="{0D108BD9-81ED-4DB2-BD59-A6C34878D82A}">
                    <a16:rowId xmlns:a16="http://schemas.microsoft.com/office/drawing/2014/main" val="10010"/>
                  </a:ext>
                </a:extLst>
              </a:tr>
            </a:tbl>
          </a:graphicData>
        </a:graphic>
      </p:graphicFrame>
      <p:sp>
        <p:nvSpPr>
          <p:cNvPr id="5" name="Text 2"/>
          <p:cNvSpPr/>
          <p:nvPr/>
        </p:nvSpPr>
        <p:spPr>
          <a:xfrm>
            <a:off x="256032" y="4956048"/>
            <a:ext cx="8631936" cy="164592"/>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Exploratory Data Analysis · Summary Statistics</a:t>
            </a:r>
            <a:endParaRPr lang="en-US" sz="2200" dirty="0"/>
          </a:p>
        </p:txBody>
      </p:sp>
      <p:sp>
        <p:nvSpPr>
          <p:cNvPr id="4" name="Text 2"/>
          <p:cNvSpPr/>
          <p:nvPr/>
        </p:nvSpPr>
        <p:spPr>
          <a:xfrm>
            <a:off x="320040" y="777240"/>
            <a:ext cx="4114800" cy="320040"/>
          </a:xfrm>
          <a:prstGeom prst="rect">
            <a:avLst/>
          </a:prstGeom>
          <a:noFill/>
          <a:ln/>
        </p:spPr>
        <p:txBody>
          <a:bodyPr wrap="square" lIns="0" tIns="0" rIns="0" bIns="0" rtlCol="0" anchor="ctr"/>
          <a:lstStyle/>
          <a:p>
            <a:pPr marL="0" indent="0">
              <a:buNone/>
            </a:pPr>
            <a:r>
              <a:rPr lang="en-US" sz="1300" b="1" dirty="0">
                <a:solidFill>
                  <a:srgbClr val="4C5C68"/>
                </a:solidFill>
                <a:latin typeface="Trebuchet MS" pitchFamily="34" charset="0"/>
                <a:ea typeface="Trebuchet MS" pitchFamily="34" charset="-122"/>
                <a:cs typeface="Trebuchet MS" pitchFamily="34" charset="-120"/>
              </a:rPr>
              <a:t>Panel A · Financial Variables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5440680" cy="1207008"/>
        </p:xfrm>
        <a:graphic>
          <a:graphicData uri="http://schemas.openxmlformats.org/drawingml/2006/table">
            <a:tbl>
              <a:tblPr/>
              <a:tblGrid>
                <a:gridCol w="15087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566928">
                  <a:extLst>
                    <a:ext uri="{9D8B030D-6E8A-4147-A177-3AD203B41FA5}">
                      <a16:colId xmlns:a16="http://schemas.microsoft.com/office/drawing/2014/main" val="20005"/>
                    </a:ext>
                  </a:extLst>
                </a:gridCol>
                <a:gridCol w="621792">
                  <a:extLst>
                    <a:ext uri="{9D8B030D-6E8A-4147-A177-3AD203B41FA5}">
                      <a16:colId xmlns:a16="http://schemas.microsoft.com/office/drawing/2014/main" val="20006"/>
                    </a:ext>
                  </a:extLst>
                </a:gridCol>
              </a:tblGrid>
              <a:tr h="329184">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Std</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p1</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p50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p99</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extLst>
                  <a:ext uri="{0D108BD9-81ED-4DB2-BD59-A6C34878D82A}">
                    <a16:rowId xmlns:a16="http://schemas.microsoft.com/office/drawing/2014/main" val="10000"/>
                  </a:ext>
                </a:extLst>
              </a:tr>
              <a:tr h="292608">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ret_t=0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185,622</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0.0004</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0.0699</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−0.200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0.000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0.196</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ret_t=+1</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185,628</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−0.0010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0.0741</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−0.224</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0.000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0.217</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extLst>
                  <a:ext uri="{0D108BD9-81ED-4DB2-BD59-A6C34878D82A}">
                    <a16:rowId xmlns:a16="http://schemas.microsoft.com/office/drawing/2014/main" val="10002"/>
                  </a:ext>
                </a:extLst>
              </a:tr>
              <a:tr h="292608">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Close-to-Open</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185,588</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0.0002</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0.0518</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−0.176</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0.000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6494C"/>
                          </a:solidFill>
                          <a:latin typeface="Calibri" pitchFamily="34" charset="0"/>
                          <a:ea typeface="Calibri" pitchFamily="34" charset="-122"/>
                          <a:cs typeface="Calibri" pitchFamily="34" charset="-120"/>
                        </a:rPr>
                        <a:t>0.159</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320040" y="2423160"/>
            <a:ext cx="4114800" cy="320040"/>
          </a:xfrm>
          <a:prstGeom prst="rect">
            <a:avLst/>
          </a:prstGeom>
          <a:noFill/>
          <a:ln/>
        </p:spPr>
        <p:txBody>
          <a:bodyPr wrap="square" lIns="0" tIns="0" rIns="0" bIns="0" rtlCol="0" anchor="ctr"/>
          <a:lstStyle/>
          <a:p>
            <a:pPr marL="0" indent="0">
              <a:buNone/>
            </a:pPr>
            <a:r>
              <a:rPr lang="en-US" sz="1300" b="1" dirty="0">
                <a:solidFill>
                  <a:srgbClr val="4C5C68"/>
                </a:solidFill>
                <a:latin typeface="Trebuchet MS" pitchFamily="34" charset="0"/>
                <a:ea typeface="Trebuchet MS" pitchFamily="34" charset="-122"/>
                <a:cs typeface="Trebuchet MS" pitchFamily="34" charset="-120"/>
              </a:rPr>
              <a:t>Panel B · Text Variables</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320040" y="2761488"/>
          <a:ext cx="5440680" cy="1033272"/>
        </p:xfrm>
        <a:graphic>
          <a:graphicData uri="http://schemas.openxmlformats.org/drawingml/2006/table">
            <a:tbl>
              <a:tblPr/>
              <a:tblGrid>
                <a:gridCol w="15087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566928">
                  <a:extLst>
                    <a:ext uri="{9D8B030D-6E8A-4147-A177-3AD203B41FA5}">
                      <a16:colId xmlns:a16="http://schemas.microsoft.com/office/drawing/2014/main" val="20005"/>
                    </a:ext>
                  </a:extLst>
                </a:gridCol>
                <a:gridCol w="621792">
                  <a:extLst>
                    <a:ext uri="{9D8B030D-6E8A-4147-A177-3AD203B41FA5}">
                      <a16:colId xmlns:a16="http://schemas.microsoft.com/office/drawing/2014/main" val="20006"/>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Std</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p25</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p50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p99</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4C5C68"/>
                    </a:solidFill>
                  </a:tcPr>
                </a:tc>
                <a:extLst>
                  <a:ext uri="{0D108BD9-81ED-4DB2-BD59-A6C34878D82A}">
                    <a16:rowId xmlns:a16="http://schemas.microsoft.com/office/drawing/2014/main" val="10000"/>
                  </a:ext>
                </a:extLst>
              </a:tr>
              <a:tr h="292608">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Word Count</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202,357</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9,624</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6,457</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5,760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8,089</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33,380</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Length (chars)</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202,357</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56,275</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37,491</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33,893</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47,229</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tc>
                  <a:txBody>
                    <a:bodyPr/>
                    <a:lstStyle/>
                    <a:p>
                      <a:pPr marL="0" indent="0">
                        <a:buNone/>
                      </a:pPr>
                      <a:r>
                        <a:rPr lang="en-US" sz="1050" dirty="0">
                          <a:solidFill>
                            <a:srgbClr val="46494C"/>
                          </a:solidFill>
                          <a:latin typeface="Calibri" pitchFamily="34" charset="0"/>
                          <a:ea typeface="Calibri" pitchFamily="34" charset="-122"/>
                          <a:cs typeface="Calibri" pitchFamily="34" charset="-120"/>
                        </a:rPr>
                        <a:t>194,245</a:t>
                      </a:r>
                      <a:endParaRPr lang="en-US" sz="1050" dirty="0">
                        <a:latin typeface="Calibri" charset="0"/>
                        <a:ea typeface="Calibri" charset="0"/>
                        <a:cs typeface="Calibri" charset="0"/>
                      </a:endParaRPr>
                    </a:p>
                  </a:txBody>
                  <a:tcPr>
                    <a:lnL w="6350" cap="flat" cmpd="sng" algn="ctr">
                      <a:solidFill>
                        <a:srgbClr val="C5C3C6"/>
                      </a:solidFill>
                      <a:prstDash val="solid"/>
                      <a:round/>
                      <a:headEnd type="none" w="med" len="med"/>
                      <a:tailEnd type="none" w="med" len="med"/>
                    </a:lnL>
                    <a:lnR w="6350" cap="flat" cmpd="sng" algn="ctr">
                      <a:solidFill>
                        <a:srgbClr val="C5C3C6"/>
                      </a:solidFill>
                      <a:prstDash val="solid"/>
                      <a:round/>
                      <a:headEnd type="none" w="med" len="med"/>
                      <a:tailEnd type="none" w="med" len="med"/>
                    </a:lnR>
                    <a:lnT w="6350" cap="flat" cmpd="sng" algn="ctr">
                      <a:solidFill>
                        <a:srgbClr val="C5C3C6"/>
                      </a:solidFill>
                      <a:prstDash val="solid"/>
                      <a:round/>
                      <a:headEnd type="none" w="med" len="med"/>
                      <a:tailEnd type="none" w="med" len="med"/>
                    </a:lnT>
                    <a:lnB w="6350" cap="flat" cmpd="sng" algn="ctr">
                      <a:solidFill>
                        <a:srgbClr val="C5C3C6"/>
                      </a:solidFill>
                      <a:prstDash val="solid"/>
                      <a:round/>
                      <a:headEnd type="none" w="med" len="med"/>
                      <a:tailEnd type="none" w="med" len="med"/>
                    </a:lnB>
                    <a:solidFill>
                      <a:srgbClr val="EEF0F2"/>
                    </a:solidFill>
                  </a:tcPr>
                </a:tc>
                <a:extLst>
                  <a:ext uri="{0D108BD9-81ED-4DB2-BD59-A6C34878D82A}">
                    <a16:rowId xmlns:a16="http://schemas.microsoft.com/office/drawing/2014/main" val="10002"/>
                  </a:ext>
                </a:extLst>
              </a:tr>
            </a:tbl>
          </a:graphicData>
        </a:graphic>
      </p:graphicFrame>
      <p:sp>
        <p:nvSpPr>
          <p:cNvPr id="8" name="Shape 4"/>
          <p:cNvSpPr/>
          <p:nvPr/>
        </p:nvSpPr>
        <p:spPr>
          <a:xfrm>
            <a:off x="5989320" y="777240"/>
            <a:ext cx="2834640" cy="1170432"/>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9" name="Shape 5"/>
          <p:cNvSpPr/>
          <p:nvPr/>
        </p:nvSpPr>
        <p:spPr>
          <a:xfrm>
            <a:off x="5989320" y="777240"/>
            <a:ext cx="2834640" cy="82296"/>
          </a:xfrm>
          <a:prstGeom prst="rect">
            <a:avLst/>
          </a:prstGeom>
          <a:solidFill>
            <a:srgbClr val="1985A1"/>
          </a:solidFill>
          <a:ln w="12700">
            <a:solidFill>
              <a:srgbClr val="1985A1"/>
            </a:solidFill>
            <a:prstDash val="solid"/>
          </a:ln>
        </p:spPr>
        <p:txBody>
          <a:bodyPr/>
          <a:lstStyle/>
          <a:p>
            <a:endParaRPr lang="en-US"/>
          </a:p>
        </p:txBody>
      </p:sp>
      <p:sp>
        <p:nvSpPr>
          <p:cNvPr id="10" name="Text 6"/>
          <p:cNvSpPr/>
          <p:nvPr/>
        </p:nvSpPr>
        <p:spPr>
          <a:xfrm>
            <a:off x="6080760" y="868680"/>
            <a:ext cx="2651760" cy="548640"/>
          </a:xfrm>
          <a:prstGeom prst="rect">
            <a:avLst/>
          </a:prstGeom>
          <a:noFill/>
          <a:ln/>
        </p:spPr>
        <p:txBody>
          <a:bodyPr wrap="square" lIns="0" tIns="0" rIns="0" bIns="0" rtlCol="0" anchor="ctr"/>
          <a:lstStyle/>
          <a:p>
            <a:pPr marL="0" indent="0" algn="ctr">
              <a:buNone/>
            </a:pPr>
            <a:r>
              <a:rPr lang="en-US" sz="3200" b="1" dirty="0">
                <a:solidFill>
                  <a:srgbClr val="4C5C68"/>
                </a:solidFill>
                <a:latin typeface="Trebuchet MS" pitchFamily="34" charset="0"/>
                <a:ea typeface="Trebuchet MS" pitchFamily="34" charset="-122"/>
                <a:cs typeface="Trebuchet MS" pitchFamily="34" charset="-120"/>
              </a:rPr>
              <a:t>2.1×</a:t>
            </a:r>
            <a:endParaRPr lang="en-US" sz="3200" dirty="0"/>
          </a:p>
        </p:txBody>
      </p:sp>
      <p:sp>
        <p:nvSpPr>
          <p:cNvPr id="11" name="Text 7"/>
          <p:cNvSpPr/>
          <p:nvPr/>
        </p:nvSpPr>
        <p:spPr>
          <a:xfrm>
            <a:off x="6080760" y="1417320"/>
            <a:ext cx="2651760" cy="274320"/>
          </a:xfrm>
          <a:prstGeom prst="rect">
            <a:avLst/>
          </a:prstGeom>
          <a:noFill/>
          <a:ln/>
        </p:spPr>
        <p:txBody>
          <a:bodyPr wrap="square" lIns="0" tIns="0" rIns="0" bIns="0" rtlCol="0" anchor="ctr"/>
          <a:lstStyle/>
          <a:p>
            <a:pPr marL="0" indent="0" algn="ctr">
              <a:buNone/>
            </a:pPr>
            <a:r>
              <a:rPr lang="en-US" sz="1050" b="1" dirty="0">
                <a:solidFill>
                  <a:srgbClr val="46494C"/>
                </a:solidFill>
                <a:latin typeface="Calibri" pitchFamily="34" charset="0"/>
                <a:ea typeface="Calibri" pitchFamily="34" charset="-122"/>
                <a:cs typeface="Calibri" pitchFamily="34" charset="-120"/>
              </a:rPr>
              <a:t>Event-day σ vs. non-event days</a:t>
            </a:r>
            <a:endParaRPr lang="en-US" sz="1050" dirty="0"/>
          </a:p>
        </p:txBody>
      </p:sp>
      <p:sp>
        <p:nvSpPr>
          <p:cNvPr id="12" name="Text 8"/>
          <p:cNvSpPr/>
          <p:nvPr/>
        </p:nvSpPr>
        <p:spPr>
          <a:xfrm>
            <a:off x="6080760" y="1682496"/>
            <a:ext cx="2651760" cy="219456"/>
          </a:xfrm>
          <a:prstGeom prst="rect">
            <a:avLst/>
          </a:prstGeom>
          <a:noFill/>
          <a:ln/>
        </p:spPr>
        <p:txBody>
          <a:bodyPr wrap="square" lIns="0" tIns="0" rIns="0" bIns="0" rtlCol="0" anchor="ctr"/>
          <a:lstStyle/>
          <a:p>
            <a:pPr marL="0" indent="0" algn="ctr">
              <a:buNone/>
            </a:pPr>
            <a:r>
              <a:rPr lang="en-US" sz="950" i="1" dirty="0">
                <a:solidFill>
                  <a:srgbClr val="C5C3C6"/>
                </a:solidFill>
                <a:latin typeface="Calibri" pitchFamily="34" charset="0"/>
                <a:ea typeface="Calibri" pitchFamily="34" charset="-122"/>
                <a:cs typeface="Calibri" pitchFamily="34" charset="-120"/>
              </a:rPr>
              <a:t>0.070 vs. ≈ 0.033</a:t>
            </a:r>
            <a:endParaRPr lang="en-US" sz="950" dirty="0"/>
          </a:p>
        </p:txBody>
      </p:sp>
      <p:sp>
        <p:nvSpPr>
          <p:cNvPr id="5" name="Shape 9"/>
          <p:cNvSpPr/>
          <p:nvPr/>
        </p:nvSpPr>
        <p:spPr>
          <a:xfrm>
            <a:off x="5989320" y="2103120"/>
            <a:ext cx="2834640" cy="1170432"/>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4" name="Shape 10"/>
          <p:cNvSpPr/>
          <p:nvPr/>
        </p:nvSpPr>
        <p:spPr>
          <a:xfrm>
            <a:off x="5989320" y="2103120"/>
            <a:ext cx="2834640" cy="82296"/>
          </a:xfrm>
          <a:prstGeom prst="rect">
            <a:avLst/>
          </a:prstGeom>
          <a:solidFill>
            <a:srgbClr val="4C5C68"/>
          </a:solidFill>
          <a:ln w="12700">
            <a:solidFill>
              <a:srgbClr val="4C5C68"/>
            </a:solidFill>
            <a:prstDash val="solid"/>
          </a:ln>
        </p:spPr>
        <p:txBody>
          <a:bodyPr/>
          <a:lstStyle/>
          <a:p>
            <a:endParaRPr lang="en-US"/>
          </a:p>
        </p:txBody>
      </p:sp>
      <p:sp>
        <p:nvSpPr>
          <p:cNvPr id="15" name="Text 11"/>
          <p:cNvSpPr/>
          <p:nvPr/>
        </p:nvSpPr>
        <p:spPr>
          <a:xfrm>
            <a:off x="6080760" y="2194560"/>
            <a:ext cx="2651760" cy="548640"/>
          </a:xfrm>
          <a:prstGeom prst="rect">
            <a:avLst/>
          </a:prstGeom>
          <a:noFill/>
          <a:ln/>
        </p:spPr>
        <p:txBody>
          <a:bodyPr wrap="square" lIns="0" tIns="0" rIns="0" bIns="0" rtlCol="0" anchor="ctr"/>
          <a:lstStyle/>
          <a:p>
            <a:pPr marL="0" indent="0" algn="ctr">
              <a:buNone/>
            </a:pPr>
            <a:r>
              <a:rPr lang="en-US" sz="3200" b="1" dirty="0">
                <a:solidFill>
                  <a:srgbClr val="4C5C68"/>
                </a:solidFill>
                <a:latin typeface="Trebuchet MS" pitchFamily="34" charset="0"/>
                <a:ea typeface="Trebuchet MS" pitchFamily="34" charset="-122"/>
                <a:cs typeface="Trebuchet MS" pitchFamily="34" charset="-120"/>
              </a:rPr>
              <a:t>−0.045</a:t>
            </a:r>
            <a:endParaRPr lang="en-US" sz="3200" dirty="0"/>
          </a:p>
        </p:txBody>
      </p:sp>
      <p:sp>
        <p:nvSpPr>
          <p:cNvPr id="16" name="Text 12"/>
          <p:cNvSpPr/>
          <p:nvPr/>
        </p:nvSpPr>
        <p:spPr>
          <a:xfrm>
            <a:off x="6080760" y="2743200"/>
            <a:ext cx="2651760" cy="274320"/>
          </a:xfrm>
          <a:prstGeom prst="rect">
            <a:avLst/>
          </a:prstGeom>
          <a:noFill/>
          <a:ln/>
        </p:spPr>
        <p:txBody>
          <a:bodyPr wrap="square" lIns="0" tIns="0" rIns="0" bIns="0" rtlCol="0" anchor="ctr"/>
          <a:lstStyle/>
          <a:p>
            <a:pPr marL="0" indent="0" algn="ctr">
              <a:buNone/>
            </a:pPr>
            <a:r>
              <a:rPr lang="en-US" sz="1050" b="1" dirty="0">
                <a:solidFill>
                  <a:srgbClr val="46494C"/>
                </a:solidFill>
                <a:latin typeface="Calibri" pitchFamily="34" charset="0"/>
                <a:ea typeface="Calibri" pitchFamily="34" charset="-122"/>
                <a:cs typeface="Calibri" pitchFamily="34" charset="-120"/>
              </a:rPr>
              <a:t>ret_t−1 / ret_t0 correlation</a:t>
            </a:r>
            <a:endParaRPr lang="en-US" sz="1050" dirty="0"/>
          </a:p>
        </p:txBody>
      </p:sp>
      <p:sp>
        <p:nvSpPr>
          <p:cNvPr id="17" name="Text 13"/>
          <p:cNvSpPr/>
          <p:nvPr/>
        </p:nvSpPr>
        <p:spPr>
          <a:xfrm>
            <a:off x="6080760" y="3008376"/>
            <a:ext cx="2651760" cy="219456"/>
          </a:xfrm>
          <a:prstGeom prst="rect">
            <a:avLst/>
          </a:prstGeom>
          <a:noFill/>
          <a:ln/>
        </p:spPr>
        <p:txBody>
          <a:bodyPr wrap="square" lIns="0" tIns="0" rIns="0" bIns="0" rtlCol="0" anchor="ctr"/>
          <a:lstStyle/>
          <a:p>
            <a:pPr marL="0" indent="0" algn="ctr">
              <a:buNone/>
            </a:pPr>
            <a:r>
              <a:rPr lang="en-US" sz="950" i="1" dirty="0">
                <a:solidFill>
                  <a:srgbClr val="C5C3C6"/>
                </a:solidFill>
                <a:latin typeface="Calibri" pitchFamily="34" charset="0"/>
                <a:ea typeface="Calibri" pitchFamily="34" charset="-122"/>
                <a:cs typeface="Calibri" pitchFamily="34" charset="-120"/>
              </a:rPr>
              <a:t>Mild mean reversion signal</a:t>
            </a:r>
            <a:endParaRPr lang="en-US" sz="950" dirty="0"/>
          </a:p>
        </p:txBody>
      </p:sp>
      <p:sp>
        <p:nvSpPr>
          <p:cNvPr id="18" name="Shape 14"/>
          <p:cNvSpPr/>
          <p:nvPr/>
        </p:nvSpPr>
        <p:spPr>
          <a:xfrm>
            <a:off x="5989320" y="3429000"/>
            <a:ext cx="2834640" cy="1170432"/>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9" name="Shape 15"/>
          <p:cNvSpPr/>
          <p:nvPr/>
        </p:nvSpPr>
        <p:spPr>
          <a:xfrm>
            <a:off x="5989320" y="3429000"/>
            <a:ext cx="2834640" cy="82296"/>
          </a:xfrm>
          <a:prstGeom prst="rect">
            <a:avLst/>
          </a:prstGeom>
          <a:solidFill>
            <a:srgbClr val="4C5C68"/>
          </a:solidFill>
          <a:ln w="12700">
            <a:solidFill>
              <a:srgbClr val="4C5C68"/>
            </a:solidFill>
            <a:prstDash val="solid"/>
          </a:ln>
        </p:spPr>
        <p:txBody>
          <a:bodyPr/>
          <a:lstStyle/>
          <a:p>
            <a:endParaRPr lang="en-US"/>
          </a:p>
        </p:txBody>
      </p:sp>
      <p:sp>
        <p:nvSpPr>
          <p:cNvPr id="20" name="Text 16"/>
          <p:cNvSpPr/>
          <p:nvPr/>
        </p:nvSpPr>
        <p:spPr>
          <a:xfrm>
            <a:off x="6080760" y="3520440"/>
            <a:ext cx="2651760" cy="548640"/>
          </a:xfrm>
          <a:prstGeom prst="rect">
            <a:avLst/>
          </a:prstGeom>
          <a:noFill/>
          <a:ln/>
        </p:spPr>
        <p:txBody>
          <a:bodyPr wrap="square" lIns="0" tIns="0" rIns="0" bIns="0" rtlCol="0" anchor="ctr"/>
          <a:lstStyle/>
          <a:p>
            <a:pPr marL="0" indent="0" algn="ctr">
              <a:buNone/>
            </a:pPr>
            <a:r>
              <a:rPr lang="en-US" sz="3200" b="1" dirty="0">
                <a:solidFill>
                  <a:srgbClr val="4C5C68"/>
                </a:solidFill>
                <a:latin typeface="Trebuchet MS" pitchFamily="34" charset="0"/>
                <a:ea typeface="Trebuchet MS" pitchFamily="34" charset="-122"/>
                <a:cs typeface="Trebuchet MS" pitchFamily="34" charset="-120"/>
              </a:rPr>
              <a:t>~0 bps</a:t>
            </a:r>
            <a:endParaRPr lang="en-US" sz="3200" dirty="0"/>
          </a:p>
        </p:txBody>
      </p:sp>
      <p:sp>
        <p:nvSpPr>
          <p:cNvPr id="21" name="Text 17"/>
          <p:cNvSpPr/>
          <p:nvPr/>
        </p:nvSpPr>
        <p:spPr>
          <a:xfrm>
            <a:off x="6080760" y="4069080"/>
            <a:ext cx="2651760" cy="274320"/>
          </a:xfrm>
          <a:prstGeom prst="rect">
            <a:avLst/>
          </a:prstGeom>
          <a:noFill/>
          <a:ln/>
        </p:spPr>
        <p:txBody>
          <a:bodyPr wrap="square" lIns="0" tIns="0" rIns="0" bIns="0" rtlCol="0" anchor="ctr"/>
          <a:lstStyle/>
          <a:p>
            <a:pPr marL="0" indent="0" algn="ctr">
              <a:buNone/>
            </a:pPr>
            <a:r>
              <a:rPr lang="en-US" sz="1050" b="1" dirty="0">
                <a:solidFill>
                  <a:srgbClr val="46494C"/>
                </a:solidFill>
                <a:latin typeface="Calibri" pitchFamily="34" charset="0"/>
                <a:ea typeface="Calibri" pitchFamily="34" charset="-122"/>
                <a:cs typeface="Calibri" pitchFamily="34" charset="-120"/>
              </a:rPr>
              <a:t>Mean event-day return</a:t>
            </a:r>
            <a:endParaRPr lang="en-US" sz="1050" dirty="0"/>
          </a:p>
        </p:txBody>
      </p:sp>
      <p:sp>
        <p:nvSpPr>
          <p:cNvPr id="22" name="Text 18"/>
          <p:cNvSpPr/>
          <p:nvPr/>
        </p:nvSpPr>
        <p:spPr>
          <a:xfrm>
            <a:off x="6080760" y="4334256"/>
            <a:ext cx="2651760" cy="219456"/>
          </a:xfrm>
          <a:prstGeom prst="rect">
            <a:avLst/>
          </a:prstGeom>
          <a:noFill/>
          <a:ln/>
        </p:spPr>
        <p:txBody>
          <a:bodyPr wrap="square" lIns="0" tIns="0" rIns="0" bIns="0" rtlCol="0" anchor="ctr"/>
          <a:lstStyle/>
          <a:p>
            <a:pPr marL="0" indent="0" algn="ctr">
              <a:buNone/>
            </a:pPr>
            <a:r>
              <a:rPr lang="en-US" sz="950" i="1" dirty="0">
                <a:solidFill>
                  <a:srgbClr val="C5C3C6"/>
                </a:solidFill>
                <a:latin typeface="Calibri" pitchFamily="34" charset="0"/>
                <a:ea typeface="Calibri" pitchFamily="34" charset="-122"/>
                <a:cs typeface="Calibri" pitchFamily="34" charset="-120"/>
              </a:rPr>
              <a:t>Near-zero across full sample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Portfolio Construction Methodology</a:t>
            </a:r>
            <a:endParaRPr lang="en-US" sz="2200" dirty="0"/>
          </a:p>
        </p:txBody>
      </p:sp>
      <p:sp>
        <p:nvSpPr>
          <p:cNvPr id="4" name="Shape 2"/>
          <p:cNvSpPr/>
          <p:nvPr/>
        </p:nvSpPr>
        <p:spPr>
          <a:xfrm>
            <a:off x="274320" y="777240"/>
            <a:ext cx="4160520" cy="4224528"/>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74320" y="777240"/>
            <a:ext cx="64008" cy="4224528"/>
          </a:xfrm>
          <a:prstGeom prst="rect">
            <a:avLst/>
          </a:prstGeom>
          <a:solidFill>
            <a:srgbClr val="1985A1"/>
          </a:solidFill>
          <a:ln w="12700">
            <a:solidFill>
              <a:srgbClr val="1985A1"/>
            </a:solidFill>
            <a:prstDash val="solid"/>
          </a:ln>
        </p:spPr>
        <p:txBody>
          <a:bodyPr/>
          <a:lstStyle/>
          <a:p>
            <a:endParaRPr lang="en-US"/>
          </a:p>
        </p:txBody>
      </p:sp>
      <p:sp>
        <p:nvSpPr>
          <p:cNvPr id="6" name="Text 4"/>
          <p:cNvSpPr/>
          <p:nvPr/>
        </p:nvSpPr>
        <p:spPr>
          <a:xfrm>
            <a:off x="475488" y="822960"/>
            <a:ext cx="3749040" cy="384048"/>
          </a:xfrm>
          <a:prstGeom prst="rect">
            <a:avLst/>
          </a:prstGeom>
          <a:noFill/>
          <a:ln/>
        </p:spPr>
        <p:txBody>
          <a:bodyPr wrap="square" lIns="0" tIns="0" rIns="0" bIns="0" rtlCol="0" anchor="ctr"/>
          <a:lstStyle/>
          <a:p>
            <a:pPr marL="0" indent="0">
              <a:buNone/>
            </a:pPr>
            <a:r>
              <a:rPr lang="en-US" sz="1500" b="1" dirty="0">
                <a:solidFill>
                  <a:srgbClr val="4C5C68"/>
                </a:solidFill>
                <a:latin typeface="Trebuchet MS" pitchFamily="34" charset="0"/>
                <a:ea typeface="Trebuchet MS" pitchFamily="34" charset="-122"/>
                <a:cs typeface="Trebuchet MS" pitchFamily="34" charset="-120"/>
              </a:rPr>
              <a:t>Portfolio Formation</a:t>
            </a:r>
            <a:endParaRPr lang="en-US" sz="1500" dirty="0"/>
          </a:p>
        </p:txBody>
      </p:sp>
      <p:sp>
        <p:nvSpPr>
          <p:cNvPr id="7" name="Text 5"/>
          <p:cNvSpPr/>
          <p:nvPr/>
        </p:nvSpPr>
        <p:spPr>
          <a:xfrm>
            <a:off x="475488" y="1298448"/>
            <a:ext cx="3749040" cy="256032"/>
          </a:xfrm>
          <a:prstGeom prst="rect">
            <a:avLst/>
          </a:prstGeom>
          <a:noFill/>
          <a:ln/>
        </p:spPr>
        <p:txBody>
          <a:bodyPr wrap="square" lIns="0" tIns="0" rIns="0" bIns="0" rtlCol="0" anchor="ctr"/>
          <a:lstStyle/>
          <a:p>
            <a:pPr marL="0" indent="0">
              <a:buNone/>
            </a:pPr>
            <a:r>
              <a:rPr lang="en-US" sz="1150" b="1" dirty="0">
                <a:solidFill>
                  <a:srgbClr val="1985A1"/>
                </a:solidFill>
                <a:latin typeface="Calibri" pitchFamily="34" charset="0"/>
                <a:ea typeface="Calibri" pitchFamily="34" charset="-122"/>
                <a:cs typeface="Calibri" pitchFamily="34" charset="-120"/>
              </a:rPr>
              <a:t>Ranking Period:</a:t>
            </a:r>
            <a:endParaRPr lang="en-US" sz="1150" dirty="0"/>
          </a:p>
        </p:txBody>
      </p:sp>
      <p:sp>
        <p:nvSpPr>
          <p:cNvPr id="8" name="Text 6"/>
          <p:cNvSpPr/>
          <p:nvPr/>
        </p:nvSpPr>
        <p:spPr>
          <a:xfrm>
            <a:off x="475488" y="1554480"/>
            <a:ext cx="3749040" cy="384048"/>
          </a:xfrm>
          <a:prstGeom prst="rect">
            <a:avLst/>
          </a:prstGeom>
          <a:noFill/>
          <a:ln/>
        </p:spPr>
        <p:txBody>
          <a:bodyPr wrap="square" lIns="0" tIns="0" rIns="0" bIns="0" rtlCol="0" anchor="ctr"/>
          <a:lstStyle/>
          <a:p>
            <a:pPr marL="0" indent="0">
              <a:buNone/>
            </a:pPr>
            <a:r>
              <a:rPr lang="en-US" sz="1100" dirty="0">
                <a:solidFill>
                  <a:srgbClr val="46494C"/>
                </a:solidFill>
                <a:latin typeface="Calibri" pitchFamily="34" charset="0"/>
                <a:ea typeface="Calibri" pitchFamily="34" charset="-122"/>
                <a:cs typeface="Calibri" pitchFamily="34" charset="-120"/>
              </a:rPr>
              <a:t>End of calendar quarter t, using AdjNov from current-quarter transcripts</a:t>
            </a:r>
            <a:endParaRPr lang="en-US" sz="1100" dirty="0"/>
          </a:p>
        </p:txBody>
      </p:sp>
      <p:sp>
        <p:nvSpPr>
          <p:cNvPr id="9" name="Text 7"/>
          <p:cNvSpPr/>
          <p:nvPr/>
        </p:nvSpPr>
        <p:spPr>
          <a:xfrm>
            <a:off x="475488" y="2011680"/>
            <a:ext cx="3749040" cy="256032"/>
          </a:xfrm>
          <a:prstGeom prst="rect">
            <a:avLst/>
          </a:prstGeom>
          <a:noFill/>
          <a:ln/>
        </p:spPr>
        <p:txBody>
          <a:bodyPr wrap="square" lIns="0" tIns="0" rIns="0" bIns="0" rtlCol="0" anchor="ctr"/>
          <a:lstStyle/>
          <a:p>
            <a:pPr marL="0" indent="0">
              <a:buNone/>
            </a:pPr>
            <a:r>
              <a:rPr lang="en-US" sz="1150" b="1" dirty="0">
                <a:solidFill>
                  <a:srgbClr val="1985A1"/>
                </a:solidFill>
                <a:latin typeface="Calibri" pitchFamily="34" charset="0"/>
                <a:ea typeface="Calibri" pitchFamily="34" charset="-122"/>
                <a:cs typeface="Calibri" pitchFamily="34" charset="-120"/>
              </a:rPr>
              <a:t>Holding Period:</a:t>
            </a:r>
            <a:endParaRPr lang="en-US" sz="1150" dirty="0"/>
          </a:p>
        </p:txBody>
      </p:sp>
      <p:sp>
        <p:nvSpPr>
          <p:cNvPr id="10" name="Text 8"/>
          <p:cNvSpPr/>
          <p:nvPr/>
        </p:nvSpPr>
        <p:spPr>
          <a:xfrm>
            <a:off x="475488" y="2267712"/>
            <a:ext cx="3749040" cy="384048"/>
          </a:xfrm>
          <a:prstGeom prst="rect">
            <a:avLst/>
          </a:prstGeom>
          <a:noFill/>
          <a:ln/>
        </p:spPr>
        <p:txBody>
          <a:bodyPr wrap="square" lIns="0" tIns="0" rIns="0" bIns="0" rtlCol="0" anchor="ctr"/>
          <a:lstStyle/>
          <a:p>
            <a:pPr marL="0" indent="0">
              <a:buNone/>
            </a:pPr>
            <a:r>
              <a:rPr lang="en-US" sz="1100" dirty="0">
                <a:solidFill>
                  <a:srgbClr val="46494C"/>
                </a:solidFill>
                <a:latin typeface="Calibri" pitchFamily="34" charset="0"/>
                <a:ea typeface="Calibri" pitchFamily="34" charset="-122"/>
                <a:cs typeface="Calibri" pitchFamily="34" charset="-120"/>
              </a:rPr>
              <a:t>Quarter t+1  (one quarter); consistent with Cohen et al. scaled to quarterly rebalancing)</a:t>
            </a:r>
            <a:endParaRPr lang="en-US" sz="1100" dirty="0"/>
          </a:p>
        </p:txBody>
      </p:sp>
      <p:sp>
        <p:nvSpPr>
          <p:cNvPr id="11" name="Text 9"/>
          <p:cNvSpPr/>
          <p:nvPr/>
        </p:nvSpPr>
        <p:spPr>
          <a:xfrm>
            <a:off x="475488" y="2724912"/>
            <a:ext cx="3749040" cy="256032"/>
          </a:xfrm>
          <a:prstGeom prst="rect">
            <a:avLst/>
          </a:prstGeom>
          <a:noFill/>
          <a:ln/>
        </p:spPr>
        <p:txBody>
          <a:bodyPr wrap="square" lIns="0" tIns="0" rIns="0" bIns="0" rtlCol="0" anchor="ctr"/>
          <a:lstStyle/>
          <a:p>
            <a:pPr marL="0" indent="0">
              <a:buNone/>
            </a:pPr>
            <a:r>
              <a:rPr lang="en-US" sz="1150" b="1" dirty="0">
                <a:solidFill>
                  <a:srgbClr val="1985A1"/>
                </a:solidFill>
                <a:latin typeface="Calibri" pitchFamily="34" charset="0"/>
                <a:ea typeface="Calibri" pitchFamily="34" charset="-122"/>
                <a:cs typeface="Calibri" pitchFamily="34" charset="-120"/>
              </a:rPr>
              <a:t>Weighting:</a:t>
            </a:r>
            <a:endParaRPr lang="en-US" sz="1150" dirty="0"/>
          </a:p>
        </p:txBody>
      </p:sp>
      <p:sp>
        <p:nvSpPr>
          <p:cNvPr id="12" name="Text 10"/>
          <p:cNvSpPr/>
          <p:nvPr/>
        </p:nvSpPr>
        <p:spPr>
          <a:xfrm>
            <a:off x="475488" y="2980944"/>
            <a:ext cx="3749040" cy="384048"/>
          </a:xfrm>
          <a:prstGeom prst="rect">
            <a:avLst/>
          </a:prstGeom>
          <a:noFill/>
          <a:ln/>
        </p:spPr>
        <p:txBody>
          <a:bodyPr wrap="square" lIns="0" tIns="0" rIns="0" bIns="0" rtlCol="0" anchor="ctr"/>
          <a:lstStyle/>
          <a:p>
            <a:pPr marL="0" indent="0">
              <a:buNone/>
            </a:pPr>
            <a:r>
              <a:rPr lang="en-US" sz="1100" dirty="0">
                <a:solidFill>
                  <a:srgbClr val="46494C"/>
                </a:solidFill>
                <a:latin typeface="Calibri" pitchFamily="34" charset="0"/>
                <a:ea typeface="Calibri" pitchFamily="34" charset="-122"/>
                <a:cs typeface="Calibri" pitchFamily="34" charset="-120"/>
              </a:rPr>
              <a:t>Equal-weighted within each quintile; value-weighted versions as robustness checks</a:t>
            </a:r>
            <a:endParaRPr lang="en-US" sz="1100" dirty="0"/>
          </a:p>
        </p:txBody>
      </p:sp>
      <p:sp>
        <p:nvSpPr>
          <p:cNvPr id="13" name="Text 11"/>
          <p:cNvSpPr/>
          <p:nvPr/>
        </p:nvSpPr>
        <p:spPr>
          <a:xfrm>
            <a:off x="475488" y="3438144"/>
            <a:ext cx="3749040" cy="256032"/>
          </a:xfrm>
          <a:prstGeom prst="rect">
            <a:avLst/>
          </a:prstGeom>
          <a:noFill/>
          <a:ln/>
        </p:spPr>
        <p:txBody>
          <a:bodyPr wrap="square" lIns="0" tIns="0" rIns="0" bIns="0" rtlCol="0" anchor="ctr"/>
          <a:lstStyle/>
          <a:p>
            <a:pPr marL="0" indent="0">
              <a:buNone/>
            </a:pPr>
            <a:r>
              <a:rPr lang="en-US" sz="1150" b="1" dirty="0">
                <a:solidFill>
                  <a:srgbClr val="1985A1"/>
                </a:solidFill>
                <a:latin typeface="Calibri" pitchFamily="34" charset="0"/>
                <a:ea typeface="Calibri" pitchFamily="34" charset="-122"/>
                <a:cs typeface="Calibri" pitchFamily="34" charset="-120"/>
              </a:rPr>
              <a:t>Short Leg:</a:t>
            </a:r>
            <a:endParaRPr lang="en-US" sz="1150" dirty="0"/>
          </a:p>
        </p:txBody>
      </p:sp>
      <p:sp>
        <p:nvSpPr>
          <p:cNvPr id="14" name="Text 12"/>
          <p:cNvSpPr/>
          <p:nvPr/>
        </p:nvSpPr>
        <p:spPr>
          <a:xfrm>
            <a:off x="475488" y="3694176"/>
            <a:ext cx="3749040" cy="384048"/>
          </a:xfrm>
          <a:prstGeom prst="rect">
            <a:avLst/>
          </a:prstGeom>
          <a:noFill/>
          <a:ln/>
        </p:spPr>
        <p:txBody>
          <a:bodyPr wrap="square" lIns="0" tIns="0" rIns="0" bIns="0" rtlCol="0" anchor="ctr"/>
          <a:lstStyle/>
          <a:p>
            <a:pPr marL="0" indent="0">
              <a:buNone/>
            </a:pPr>
            <a:r>
              <a:rPr lang="en-US" sz="1100" dirty="0">
                <a:solidFill>
                  <a:srgbClr val="46494C"/>
                </a:solidFill>
                <a:latin typeface="Calibri" pitchFamily="34" charset="0"/>
                <a:ea typeface="Calibri" pitchFamily="34" charset="-122"/>
                <a:cs typeface="Calibri" pitchFamily="34" charset="-120"/>
              </a:rPr>
              <a:t>Assumes frictionless shorting; costs acknowledged — high-cost to borrow names hedged via puts or index</a:t>
            </a:r>
            <a:endParaRPr lang="en-US" sz="1100" dirty="0"/>
          </a:p>
        </p:txBody>
      </p:sp>
      <p:sp>
        <p:nvSpPr>
          <p:cNvPr id="15" name="Text 13"/>
          <p:cNvSpPr/>
          <p:nvPr/>
        </p:nvSpPr>
        <p:spPr>
          <a:xfrm>
            <a:off x="475488" y="4151376"/>
            <a:ext cx="3749040" cy="256032"/>
          </a:xfrm>
          <a:prstGeom prst="rect">
            <a:avLst/>
          </a:prstGeom>
          <a:noFill/>
          <a:ln/>
        </p:spPr>
        <p:txBody>
          <a:bodyPr wrap="square" lIns="0" tIns="0" rIns="0" bIns="0" rtlCol="0" anchor="ctr"/>
          <a:lstStyle/>
          <a:p>
            <a:pPr marL="0" indent="0">
              <a:buNone/>
            </a:pPr>
            <a:r>
              <a:rPr lang="en-US" sz="1150" b="1" dirty="0">
                <a:solidFill>
                  <a:srgbClr val="1985A1"/>
                </a:solidFill>
                <a:latin typeface="Calibri" pitchFamily="34" charset="0"/>
                <a:ea typeface="Calibri" pitchFamily="34" charset="-122"/>
                <a:cs typeface="Calibri" pitchFamily="34" charset="-120"/>
              </a:rPr>
              <a:t>Benchmark:</a:t>
            </a:r>
            <a:endParaRPr lang="en-US" sz="1150" dirty="0"/>
          </a:p>
        </p:txBody>
      </p:sp>
      <p:sp>
        <p:nvSpPr>
          <p:cNvPr id="16" name="Text 14"/>
          <p:cNvSpPr/>
          <p:nvPr/>
        </p:nvSpPr>
        <p:spPr>
          <a:xfrm>
            <a:off x="475488" y="4407408"/>
            <a:ext cx="3749040" cy="384048"/>
          </a:xfrm>
          <a:prstGeom prst="rect">
            <a:avLst/>
          </a:prstGeom>
          <a:noFill/>
          <a:ln/>
        </p:spPr>
        <p:txBody>
          <a:bodyPr wrap="square" lIns="0" tIns="0" rIns="0" bIns="0" rtlCol="0" anchor="ctr"/>
          <a:lstStyle/>
          <a:p>
            <a:pPr marL="0" indent="0">
              <a:buNone/>
            </a:pPr>
            <a:r>
              <a:rPr lang="en-US" sz="1100" dirty="0">
                <a:solidFill>
                  <a:srgbClr val="46494C"/>
                </a:solidFill>
                <a:latin typeface="Calibri" pitchFamily="34" charset="0"/>
                <a:ea typeface="Calibri" pitchFamily="34" charset="-122"/>
                <a:cs typeface="Calibri" pitchFamily="34" charset="-120"/>
              </a:rPr>
              <a:t>Calendar-time portfolio α vs. Cohen, Malloy &amp; Nguyen (2020) 188 bps/month from 10-K changes</a:t>
            </a:r>
            <a:endParaRPr lang="en-US" sz="1100" dirty="0"/>
          </a:p>
        </p:txBody>
      </p:sp>
      <p:sp>
        <p:nvSpPr>
          <p:cNvPr id="17" name="Shape 15"/>
          <p:cNvSpPr/>
          <p:nvPr/>
        </p:nvSpPr>
        <p:spPr>
          <a:xfrm>
            <a:off x="4709160" y="777240"/>
            <a:ext cx="4160520" cy="1993392"/>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6"/>
          <p:cNvSpPr/>
          <p:nvPr/>
        </p:nvSpPr>
        <p:spPr>
          <a:xfrm>
            <a:off x="4709160" y="777240"/>
            <a:ext cx="64008" cy="1993392"/>
          </a:xfrm>
          <a:prstGeom prst="rect">
            <a:avLst/>
          </a:prstGeom>
          <a:solidFill>
            <a:srgbClr val="4C5C68"/>
          </a:solidFill>
          <a:ln w="12700">
            <a:solidFill>
              <a:srgbClr val="4C5C68"/>
            </a:solidFill>
            <a:prstDash val="solid"/>
          </a:ln>
        </p:spPr>
        <p:txBody>
          <a:bodyPr/>
          <a:lstStyle/>
          <a:p>
            <a:endParaRPr lang="en-US"/>
          </a:p>
        </p:txBody>
      </p:sp>
      <p:sp>
        <p:nvSpPr>
          <p:cNvPr id="19" name="Text 17"/>
          <p:cNvSpPr/>
          <p:nvPr/>
        </p:nvSpPr>
        <p:spPr>
          <a:xfrm>
            <a:off x="4910328" y="822960"/>
            <a:ext cx="3749040" cy="384048"/>
          </a:xfrm>
          <a:prstGeom prst="rect">
            <a:avLst/>
          </a:prstGeom>
          <a:noFill/>
          <a:ln/>
        </p:spPr>
        <p:txBody>
          <a:bodyPr wrap="square" lIns="0" tIns="0" rIns="0" bIns="0" rtlCol="0" anchor="ctr"/>
          <a:lstStyle/>
          <a:p>
            <a:pPr marL="0" indent="0">
              <a:buNone/>
            </a:pPr>
            <a:r>
              <a:rPr lang="en-US" sz="1500" b="1" dirty="0">
                <a:solidFill>
                  <a:srgbClr val="4C5C68"/>
                </a:solidFill>
                <a:latin typeface="Trebuchet MS" pitchFamily="34" charset="0"/>
                <a:ea typeface="Trebuchet MS" pitchFamily="34" charset="-122"/>
                <a:cs typeface="Trebuchet MS" pitchFamily="34" charset="-120"/>
              </a:rPr>
              <a:t>Return Computation</a:t>
            </a:r>
            <a:endParaRPr lang="en-US" sz="1500" dirty="0"/>
          </a:p>
        </p:txBody>
      </p:sp>
      <p:sp>
        <p:nvSpPr>
          <p:cNvPr id="20" name="Text 18"/>
          <p:cNvSpPr/>
          <p:nvPr/>
        </p:nvSpPr>
        <p:spPr>
          <a:xfrm>
            <a:off x="4910328" y="1261872"/>
            <a:ext cx="3749040" cy="1316736"/>
          </a:xfrm>
          <a:prstGeom prst="rect">
            <a:avLst/>
          </a:prstGeom>
          <a:noFill/>
          <a:ln/>
        </p:spPr>
        <p:txBody>
          <a:bodyPr wrap="square" lIns="0" tIns="0" rIns="0" bIns="0" rtlCol="0" anchor="t"/>
          <a:lstStyle/>
          <a:p>
            <a:pPr marL="0" indent="0">
              <a:buNone/>
            </a:pPr>
            <a:r>
              <a:rPr lang="en-US" sz="1150" b="1" dirty="0">
                <a:solidFill>
                  <a:srgbClr val="46494C"/>
                </a:solidFill>
                <a:latin typeface="Calibri" pitchFamily="34" charset="0"/>
                <a:ea typeface="Calibri" pitchFamily="34" charset="-122"/>
                <a:cs typeface="Calibri" pitchFamily="34" charset="-120"/>
              </a:rPr>
              <a:t>Quintile return: </a:t>
            </a:r>
            <a:r>
              <a:rPr lang="en-US" sz="1150" dirty="0">
                <a:solidFill>
                  <a:srgbClr val="46494C"/>
                </a:solidFill>
                <a:latin typeface="Calibri" pitchFamily="34" charset="0"/>
                <a:ea typeface="Calibri" pitchFamily="34" charset="-122"/>
                <a:cs typeface="Calibri" pitchFamily="34" charset="-120"/>
              </a:rPr>
              <a:t>Equal-weighted mean across all firms in quintile q per month
</a:t>
            </a:r>
            <a:r>
              <a:rPr lang="en-US" sz="1150" b="1" dirty="0">
                <a:solidFill>
                  <a:srgbClr val="46494C"/>
                </a:solidFill>
                <a:latin typeface="Calibri" pitchFamily="34" charset="0"/>
                <a:ea typeface="Calibri" pitchFamily="34" charset="-122"/>
                <a:cs typeface="Calibri" pitchFamily="34" charset="-120"/>
              </a:rPr>
              <a:t>Long-short spread: </a:t>
            </a:r>
            <a:r>
              <a:rPr lang="en-US" sz="1150" dirty="0">
                <a:solidFill>
                  <a:srgbClr val="46494C"/>
                </a:solidFill>
                <a:latin typeface="Calibri" pitchFamily="34" charset="0"/>
                <a:ea typeface="Calibri" pitchFamily="34" charset="-122"/>
                <a:cs typeface="Calibri" pitchFamily="34" charset="-120"/>
              </a:rPr>
              <a:t>R_LS = R_Q1 − R_Q5  (buy familiar, short novel)</a:t>
            </a:r>
            <a:endParaRPr lang="en-US" sz="1150" dirty="0"/>
          </a:p>
        </p:txBody>
      </p:sp>
      <p:sp>
        <p:nvSpPr>
          <p:cNvPr id="21" name="Shape 19"/>
          <p:cNvSpPr/>
          <p:nvPr/>
        </p:nvSpPr>
        <p:spPr>
          <a:xfrm>
            <a:off x="4709160" y="2898648"/>
            <a:ext cx="4160520" cy="210312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2" name="Shape 20"/>
          <p:cNvSpPr/>
          <p:nvPr/>
        </p:nvSpPr>
        <p:spPr>
          <a:xfrm>
            <a:off x="4709160" y="2898648"/>
            <a:ext cx="64008" cy="2103120"/>
          </a:xfrm>
          <a:prstGeom prst="rect">
            <a:avLst/>
          </a:prstGeom>
          <a:solidFill>
            <a:srgbClr val="1985A1"/>
          </a:solidFill>
          <a:ln w="12700">
            <a:solidFill>
              <a:srgbClr val="1985A1"/>
            </a:solidFill>
            <a:prstDash val="solid"/>
          </a:ln>
        </p:spPr>
        <p:txBody>
          <a:bodyPr/>
          <a:lstStyle/>
          <a:p>
            <a:endParaRPr lang="en-US"/>
          </a:p>
        </p:txBody>
      </p:sp>
      <p:sp>
        <p:nvSpPr>
          <p:cNvPr id="23" name="Text 21"/>
          <p:cNvSpPr/>
          <p:nvPr/>
        </p:nvSpPr>
        <p:spPr>
          <a:xfrm>
            <a:off x="4910328" y="2944368"/>
            <a:ext cx="3749040" cy="384048"/>
          </a:xfrm>
          <a:prstGeom prst="rect">
            <a:avLst/>
          </a:prstGeom>
          <a:noFill/>
          <a:ln/>
        </p:spPr>
        <p:txBody>
          <a:bodyPr wrap="square" lIns="0" tIns="0" rIns="0" bIns="0" rtlCol="0" anchor="ctr"/>
          <a:lstStyle/>
          <a:p>
            <a:pPr marL="0" indent="0">
              <a:buNone/>
            </a:pPr>
            <a:r>
              <a:rPr lang="en-US" sz="1500" b="1" dirty="0">
                <a:solidFill>
                  <a:srgbClr val="4C5C68"/>
                </a:solidFill>
                <a:latin typeface="Trebuchet MS" pitchFamily="34" charset="0"/>
                <a:ea typeface="Trebuchet MS" pitchFamily="34" charset="-122"/>
                <a:cs typeface="Trebuchet MS" pitchFamily="34" charset="-120"/>
              </a:rPr>
              <a:t>Risk Adjustment (FF5)</a:t>
            </a:r>
            <a:endParaRPr lang="en-US" sz="1500" dirty="0"/>
          </a:p>
        </p:txBody>
      </p:sp>
      <p:sp>
        <p:nvSpPr>
          <p:cNvPr id="24" name="Text 22"/>
          <p:cNvSpPr/>
          <p:nvPr/>
        </p:nvSpPr>
        <p:spPr>
          <a:xfrm>
            <a:off x="4910328" y="3401568"/>
            <a:ext cx="3794760" cy="502920"/>
          </a:xfrm>
          <a:prstGeom prst="rect">
            <a:avLst/>
          </a:prstGeom>
          <a:noFill/>
          <a:ln/>
        </p:spPr>
        <p:txBody>
          <a:bodyPr wrap="square" lIns="0" tIns="0" rIns="0" bIns="0" rtlCol="0" anchor="ctr"/>
          <a:lstStyle/>
          <a:p>
            <a:pPr marL="0" indent="0">
              <a:buNone/>
            </a:pPr>
            <a:r>
              <a:rPr lang="en-US" sz="1050" dirty="0">
                <a:solidFill>
                  <a:srgbClr val="4C5C68"/>
                </a:solidFill>
                <a:latin typeface="Consolas" pitchFamily="34" charset="0"/>
                <a:ea typeface="Consolas" pitchFamily="34" charset="-122"/>
                <a:cs typeface="Consolas" pitchFamily="34" charset="-120"/>
              </a:rPr>
              <a:t>R_LS − Rf  =  α  +  β₁MKT  +  β₂SMB  +  β₃HML  +  β₄RMW  +  β₅CMA  +  ε</a:t>
            </a:r>
            <a:endParaRPr lang="en-US" sz="1050" dirty="0"/>
          </a:p>
        </p:txBody>
      </p:sp>
      <p:sp>
        <p:nvSpPr>
          <p:cNvPr id="25" name="Text 23"/>
          <p:cNvSpPr/>
          <p:nvPr/>
        </p:nvSpPr>
        <p:spPr>
          <a:xfrm>
            <a:off x="4910328" y="3913632"/>
            <a:ext cx="3794760" cy="960120"/>
          </a:xfrm>
          <a:prstGeom prst="rect">
            <a:avLst/>
          </a:prstGeom>
          <a:noFill/>
          <a:ln/>
        </p:spPr>
        <p:txBody>
          <a:bodyPr wrap="square" lIns="0" tIns="0" rIns="0" bIns="0" rtlCol="0" anchor="t"/>
          <a:lstStyle/>
          <a:p>
            <a:pPr marL="0" indent="0">
              <a:buNone/>
            </a:pPr>
            <a:r>
              <a:rPr lang="en-US" sz="1100" b="1" dirty="0">
                <a:solidFill>
                  <a:srgbClr val="46494C"/>
                </a:solidFill>
                <a:latin typeface="Calibri" pitchFamily="34" charset="0"/>
                <a:ea typeface="Calibri" pitchFamily="34" charset="-122"/>
                <a:cs typeface="Calibri" pitchFamily="34" charset="-120"/>
              </a:rPr>
              <a:t>α  </a:t>
            </a:r>
            <a:r>
              <a:rPr lang="en-US" sz="1100" dirty="0">
                <a:solidFill>
                  <a:srgbClr val="46494C"/>
                </a:solidFill>
                <a:latin typeface="Calibri" pitchFamily="34" charset="0"/>
                <a:ea typeface="Calibri" pitchFamily="34" charset="-122"/>
                <a:cs typeface="Calibri" pitchFamily="34" charset="-120"/>
              </a:rPr>
              <a:t>= novelty strategy alpha net of standard risk exposures
</a:t>
            </a:r>
            <a:r>
              <a:rPr lang="en-US" sz="1100" b="1" dirty="0">
                <a:solidFill>
                  <a:srgbClr val="46494C"/>
                </a:solidFill>
                <a:latin typeface="Calibri" pitchFamily="34" charset="0"/>
                <a:ea typeface="Calibri" pitchFamily="34" charset="-122"/>
                <a:cs typeface="Calibri" pitchFamily="34" charset="-120"/>
              </a:rPr>
              <a:t>Standard errors </a:t>
            </a:r>
            <a:r>
              <a:rPr lang="en-US" sz="1100" dirty="0">
                <a:solidFill>
                  <a:srgbClr val="46494C"/>
                </a:solidFill>
                <a:latin typeface="Calibri" pitchFamily="34" charset="0"/>
                <a:ea typeface="Calibri" pitchFamily="34" charset="-122"/>
                <a:cs typeface="Calibri" pitchFamily="34" charset="-120"/>
              </a:rPr>
              <a:t>clustered by calendar date (cross-sectionally correlated events)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Model Specifications</a:t>
            </a:r>
            <a:endParaRPr lang="en-US" sz="2200" dirty="0"/>
          </a:p>
        </p:txBody>
      </p:sp>
      <p:sp>
        <p:nvSpPr>
          <p:cNvPr id="4" name="Shape 2"/>
          <p:cNvSpPr/>
          <p:nvPr/>
        </p:nvSpPr>
        <p:spPr>
          <a:xfrm>
            <a:off x="274320" y="777240"/>
            <a:ext cx="4206240" cy="1938528"/>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74320" y="777240"/>
            <a:ext cx="594360" cy="1938528"/>
          </a:xfrm>
          <a:prstGeom prst="rect">
            <a:avLst/>
          </a:prstGeom>
          <a:solidFill>
            <a:srgbClr val="1985A1"/>
          </a:solidFill>
          <a:ln w="12700">
            <a:solidFill>
              <a:srgbClr val="1985A1"/>
            </a:solidFill>
            <a:prstDash val="solid"/>
          </a:ln>
        </p:spPr>
        <p:txBody>
          <a:bodyPr/>
          <a:lstStyle/>
          <a:p>
            <a:endParaRPr lang="en-US"/>
          </a:p>
        </p:txBody>
      </p:sp>
      <p:sp>
        <p:nvSpPr>
          <p:cNvPr id="6" name="Text 4"/>
          <p:cNvSpPr/>
          <p:nvPr/>
        </p:nvSpPr>
        <p:spPr>
          <a:xfrm>
            <a:off x="274320" y="777240"/>
            <a:ext cx="594360" cy="193852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M1</a:t>
            </a:r>
            <a:endParaRPr lang="en-US" sz="1500" dirty="0"/>
          </a:p>
        </p:txBody>
      </p:sp>
      <p:sp>
        <p:nvSpPr>
          <p:cNvPr id="7" name="Text 5"/>
          <p:cNvSpPr/>
          <p:nvPr/>
        </p:nvSpPr>
        <p:spPr>
          <a:xfrm>
            <a:off x="960120" y="868680"/>
            <a:ext cx="3401568" cy="347472"/>
          </a:xfrm>
          <a:prstGeom prst="rect">
            <a:avLst/>
          </a:prstGeom>
          <a:noFill/>
          <a:ln/>
        </p:spPr>
        <p:txBody>
          <a:bodyPr wrap="square" lIns="0" tIns="0" rIns="0" bIns="0" rtlCol="0" anchor="ctr"/>
          <a:lstStyle/>
          <a:p>
            <a:pPr marL="0" indent="0">
              <a:buNone/>
            </a:pPr>
            <a:r>
              <a:rPr lang="en-US" sz="1250" b="1" dirty="0">
                <a:solidFill>
                  <a:srgbClr val="4C5C68"/>
                </a:solidFill>
                <a:latin typeface="Trebuchet MS" pitchFamily="34" charset="0"/>
                <a:ea typeface="Trebuchet MS" pitchFamily="34" charset="-122"/>
                <a:cs typeface="Trebuchet MS" pitchFamily="34" charset="-120"/>
              </a:rPr>
              <a:t>Quintile Sort  (main)</a:t>
            </a:r>
            <a:endParaRPr lang="en-US" sz="1250" dirty="0"/>
          </a:p>
        </p:txBody>
      </p:sp>
      <p:sp>
        <p:nvSpPr>
          <p:cNvPr id="8" name="Text 6"/>
          <p:cNvSpPr/>
          <p:nvPr/>
        </p:nvSpPr>
        <p:spPr>
          <a:xfrm>
            <a:off x="960120" y="1234440"/>
            <a:ext cx="3429000" cy="841248"/>
          </a:xfrm>
          <a:prstGeom prst="rect">
            <a:avLst/>
          </a:prstGeom>
          <a:noFill/>
          <a:ln/>
        </p:spPr>
        <p:txBody>
          <a:bodyPr wrap="square" lIns="0" tIns="0" rIns="0" bIns="0" rtlCol="0" anchor="t"/>
          <a:lstStyle/>
          <a:p>
            <a:pPr marL="0" indent="0">
              <a:buNone/>
            </a:pPr>
            <a:r>
              <a:rPr lang="en-US" sz="950" dirty="0">
                <a:solidFill>
                  <a:srgbClr val="46494C"/>
                </a:solidFill>
                <a:latin typeface="Consolas" pitchFamily="34" charset="0"/>
                <a:ea typeface="Consolas" pitchFamily="34" charset="-122"/>
                <a:cs typeface="Consolas" pitchFamily="34" charset="-120"/>
              </a:rPr>
              <a:t>CAR[−1,+1] = α + β₁Q2 + β₂Q3 + β₃Q4 + β₄Q5 + γSUE + γCtO + γ log(mktcap) + …</a:t>
            </a:r>
            <a:endParaRPr lang="en-US" sz="950" dirty="0"/>
          </a:p>
        </p:txBody>
      </p:sp>
      <p:sp>
        <p:nvSpPr>
          <p:cNvPr id="9" name="Shape 7"/>
          <p:cNvSpPr/>
          <p:nvPr/>
        </p:nvSpPr>
        <p:spPr>
          <a:xfrm>
            <a:off x="960120" y="2093976"/>
            <a:ext cx="3401568" cy="36576"/>
          </a:xfrm>
          <a:prstGeom prst="rect">
            <a:avLst/>
          </a:prstGeom>
          <a:solidFill>
            <a:srgbClr val="C5C3C6"/>
          </a:solidFill>
          <a:ln w="12700">
            <a:solidFill>
              <a:srgbClr val="C5C3C6"/>
            </a:solidFill>
            <a:prstDash val="solid"/>
          </a:ln>
        </p:spPr>
        <p:txBody>
          <a:bodyPr/>
          <a:lstStyle/>
          <a:p>
            <a:endParaRPr lang="en-US"/>
          </a:p>
        </p:txBody>
      </p:sp>
      <p:sp>
        <p:nvSpPr>
          <p:cNvPr id="10" name="Text 8"/>
          <p:cNvSpPr/>
          <p:nvPr/>
        </p:nvSpPr>
        <p:spPr>
          <a:xfrm>
            <a:off x="960120" y="2167128"/>
            <a:ext cx="3401568" cy="438912"/>
          </a:xfrm>
          <a:prstGeom prst="rect">
            <a:avLst/>
          </a:prstGeom>
          <a:noFill/>
          <a:ln/>
        </p:spPr>
        <p:txBody>
          <a:bodyPr wrap="square" lIns="0" tIns="0" rIns="0" bIns="0" rtlCol="0" anchor="t"/>
          <a:lstStyle/>
          <a:p>
            <a:pPr marL="0" indent="0">
              <a:buNone/>
            </a:pPr>
            <a:r>
              <a:rPr lang="en-US" sz="1000" i="1" dirty="0">
                <a:solidFill>
                  <a:srgbClr val="C5C3C6"/>
                </a:solidFill>
                <a:latin typeface="Calibri" pitchFamily="34" charset="0"/>
                <a:ea typeface="Calibri" pitchFamily="34" charset="-122"/>
                <a:cs typeface="Calibri" pitchFamily="34" charset="-120"/>
              </a:rPr>
              <a:t>Non-parametric novelty-return relationship. β₄(Q5) tests H1.</a:t>
            </a:r>
            <a:endParaRPr lang="en-US" sz="1000" dirty="0"/>
          </a:p>
        </p:txBody>
      </p:sp>
      <p:sp>
        <p:nvSpPr>
          <p:cNvPr id="11" name="Shape 9"/>
          <p:cNvSpPr/>
          <p:nvPr/>
        </p:nvSpPr>
        <p:spPr>
          <a:xfrm>
            <a:off x="4709160" y="777240"/>
            <a:ext cx="4206240" cy="1938528"/>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10"/>
          <p:cNvSpPr/>
          <p:nvPr/>
        </p:nvSpPr>
        <p:spPr>
          <a:xfrm>
            <a:off x="4709160" y="777240"/>
            <a:ext cx="594360" cy="1938528"/>
          </a:xfrm>
          <a:prstGeom prst="rect">
            <a:avLst/>
          </a:prstGeom>
          <a:solidFill>
            <a:srgbClr val="1985A1"/>
          </a:solidFill>
          <a:ln w="12700">
            <a:solidFill>
              <a:srgbClr val="1985A1"/>
            </a:solidFill>
            <a:prstDash val="solid"/>
          </a:ln>
        </p:spPr>
        <p:txBody>
          <a:bodyPr/>
          <a:lstStyle/>
          <a:p>
            <a:endParaRPr lang="en-US"/>
          </a:p>
        </p:txBody>
      </p:sp>
      <p:sp>
        <p:nvSpPr>
          <p:cNvPr id="13" name="Text 11"/>
          <p:cNvSpPr/>
          <p:nvPr/>
        </p:nvSpPr>
        <p:spPr>
          <a:xfrm>
            <a:off x="4709160" y="777240"/>
            <a:ext cx="594360" cy="193852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M2</a:t>
            </a:r>
            <a:endParaRPr lang="en-US" sz="1500" dirty="0"/>
          </a:p>
        </p:txBody>
      </p:sp>
      <p:sp>
        <p:nvSpPr>
          <p:cNvPr id="14" name="Text 12"/>
          <p:cNvSpPr/>
          <p:nvPr/>
        </p:nvSpPr>
        <p:spPr>
          <a:xfrm>
            <a:off x="5394960" y="868680"/>
            <a:ext cx="3401568" cy="347472"/>
          </a:xfrm>
          <a:prstGeom prst="rect">
            <a:avLst/>
          </a:prstGeom>
          <a:noFill/>
          <a:ln/>
        </p:spPr>
        <p:txBody>
          <a:bodyPr wrap="square" lIns="0" tIns="0" rIns="0" bIns="0" rtlCol="0" anchor="ctr"/>
          <a:lstStyle/>
          <a:p>
            <a:pPr marL="0" indent="0">
              <a:buNone/>
            </a:pPr>
            <a:r>
              <a:rPr lang="en-US" sz="1250" b="1" dirty="0">
                <a:solidFill>
                  <a:srgbClr val="4C5C68"/>
                </a:solidFill>
                <a:latin typeface="Trebuchet MS" pitchFamily="34" charset="0"/>
                <a:ea typeface="Trebuchet MS" pitchFamily="34" charset="-122"/>
                <a:cs typeface="Trebuchet MS" pitchFamily="34" charset="-120"/>
              </a:rPr>
              <a:t>Continuous + Quadratic</a:t>
            </a:r>
            <a:endParaRPr lang="en-US" sz="1250" dirty="0"/>
          </a:p>
        </p:txBody>
      </p:sp>
      <p:sp>
        <p:nvSpPr>
          <p:cNvPr id="15" name="Text 13"/>
          <p:cNvSpPr/>
          <p:nvPr/>
        </p:nvSpPr>
        <p:spPr>
          <a:xfrm>
            <a:off x="5394960" y="1234440"/>
            <a:ext cx="3429000" cy="841248"/>
          </a:xfrm>
          <a:prstGeom prst="rect">
            <a:avLst/>
          </a:prstGeom>
          <a:noFill/>
          <a:ln/>
        </p:spPr>
        <p:txBody>
          <a:bodyPr wrap="square" lIns="0" tIns="0" rIns="0" bIns="0" rtlCol="0" anchor="t"/>
          <a:lstStyle/>
          <a:p>
            <a:pPr marL="0" indent="0">
              <a:buNone/>
            </a:pPr>
            <a:r>
              <a:rPr lang="en-US" sz="950" dirty="0">
                <a:solidFill>
                  <a:srgbClr val="46494C"/>
                </a:solidFill>
                <a:latin typeface="Consolas" pitchFamily="34" charset="0"/>
                <a:ea typeface="Consolas" pitchFamily="34" charset="-122"/>
                <a:cs typeface="Consolas" pitchFamily="34" charset="-120"/>
              </a:rPr>
              <a:t>CAR[−1,+1] = α + β₁NovScore + β₂NovScore² + γSUE + γCtO + γlog(mktcap) + …</a:t>
            </a:r>
            <a:endParaRPr lang="en-US" sz="950" dirty="0"/>
          </a:p>
        </p:txBody>
      </p:sp>
      <p:sp>
        <p:nvSpPr>
          <p:cNvPr id="16" name="Shape 14"/>
          <p:cNvSpPr/>
          <p:nvPr/>
        </p:nvSpPr>
        <p:spPr>
          <a:xfrm>
            <a:off x="5394960" y="2093976"/>
            <a:ext cx="3401568" cy="36576"/>
          </a:xfrm>
          <a:prstGeom prst="rect">
            <a:avLst/>
          </a:prstGeom>
          <a:solidFill>
            <a:srgbClr val="C5C3C6"/>
          </a:solidFill>
          <a:ln w="12700">
            <a:solidFill>
              <a:srgbClr val="C5C3C6"/>
            </a:solidFill>
            <a:prstDash val="solid"/>
          </a:ln>
        </p:spPr>
        <p:txBody>
          <a:bodyPr/>
          <a:lstStyle/>
          <a:p>
            <a:endParaRPr lang="en-US"/>
          </a:p>
        </p:txBody>
      </p:sp>
      <p:sp>
        <p:nvSpPr>
          <p:cNvPr id="17" name="Text 15"/>
          <p:cNvSpPr/>
          <p:nvPr/>
        </p:nvSpPr>
        <p:spPr>
          <a:xfrm>
            <a:off x="5394960" y="2167128"/>
            <a:ext cx="3401568" cy="438912"/>
          </a:xfrm>
          <a:prstGeom prst="rect">
            <a:avLst/>
          </a:prstGeom>
          <a:noFill/>
          <a:ln/>
        </p:spPr>
        <p:txBody>
          <a:bodyPr wrap="square" lIns="0" tIns="0" rIns="0" bIns="0" rtlCol="0" anchor="t"/>
          <a:lstStyle/>
          <a:p>
            <a:pPr marL="0" indent="0">
              <a:buNone/>
            </a:pPr>
            <a:r>
              <a:rPr lang="en-US" sz="1000" i="1" dirty="0">
                <a:solidFill>
                  <a:srgbClr val="C5C3C6"/>
                </a:solidFill>
                <a:latin typeface="Calibri" pitchFamily="34" charset="0"/>
                <a:ea typeface="Calibri" pitchFamily="34" charset="-122"/>
                <a:cs typeface="Calibri" pitchFamily="34" charset="-120"/>
              </a:rPr>
              <a:t>Tests for non-linear (U-shaped or inverted-U) novelty-return relationship.</a:t>
            </a:r>
            <a:endParaRPr lang="en-US" sz="1000" dirty="0"/>
          </a:p>
        </p:txBody>
      </p:sp>
      <p:sp>
        <p:nvSpPr>
          <p:cNvPr id="18" name="Shape 16"/>
          <p:cNvSpPr/>
          <p:nvPr/>
        </p:nvSpPr>
        <p:spPr>
          <a:xfrm>
            <a:off x="274320" y="2898648"/>
            <a:ext cx="4206240" cy="1938528"/>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9" name="Shape 17"/>
          <p:cNvSpPr/>
          <p:nvPr/>
        </p:nvSpPr>
        <p:spPr>
          <a:xfrm>
            <a:off x="274320" y="2898648"/>
            <a:ext cx="594360" cy="1938528"/>
          </a:xfrm>
          <a:prstGeom prst="rect">
            <a:avLst/>
          </a:prstGeom>
          <a:solidFill>
            <a:srgbClr val="4C5C68"/>
          </a:solidFill>
          <a:ln w="12700">
            <a:solidFill>
              <a:srgbClr val="4C5C68"/>
            </a:solidFill>
            <a:prstDash val="solid"/>
          </a:ln>
        </p:spPr>
        <p:txBody>
          <a:bodyPr/>
          <a:lstStyle/>
          <a:p>
            <a:endParaRPr lang="en-US"/>
          </a:p>
        </p:txBody>
      </p:sp>
      <p:sp>
        <p:nvSpPr>
          <p:cNvPr id="20" name="Text 18"/>
          <p:cNvSpPr/>
          <p:nvPr/>
        </p:nvSpPr>
        <p:spPr>
          <a:xfrm>
            <a:off x="274320" y="2898648"/>
            <a:ext cx="594360" cy="193852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M3</a:t>
            </a:r>
            <a:endParaRPr lang="en-US" sz="1500" dirty="0"/>
          </a:p>
        </p:txBody>
      </p:sp>
      <p:sp>
        <p:nvSpPr>
          <p:cNvPr id="21" name="Text 19"/>
          <p:cNvSpPr/>
          <p:nvPr/>
        </p:nvSpPr>
        <p:spPr>
          <a:xfrm>
            <a:off x="960120" y="2990088"/>
            <a:ext cx="3401568" cy="347472"/>
          </a:xfrm>
          <a:prstGeom prst="rect">
            <a:avLst/>
          </a:prstGeom>
          <a:noFill/>
          <a:ln/>
        </p:spPr>
        <p:txBody>
          <a:bodyPr wrap="square" lIns="0" tIns="0" rIns="0" bIns="0" rtlCol="0" anchor="ctr"/>
          <a:lstStyle/>
          <a:p>
            <a:pPr marL="0" indent="0">
              <a:buNone/>
            </a:pPr>
            <a:r>
              <a:rPr lang="en-US" sz="1250" b="1" dirty="0">
                <a:solidFill>
                  <a:srgbClr val="4C5C68"/>
                </a:solidFill>
                <a:latin typeface="Trebuchet MS" pitchFamily="34" charset="0"/>
                <a:ea typeface="Trebuchet MS" pitchFamily="34" charset="-122"/>
                <a:cs typeface="Trebuchet MS" pitchFamily="34" charset="-120"/>
              </a:rPr>
              <a:t>Mean Reversion  (H2 test)</a:t>
            </a:r>
            <a:endParaRPr lang="en-US" sz="1250" dirty="0"/>
          </a:p>
        </p:txBody>
      </p:sp>
      <p:sp>
        <p:nvSpPr>
          <p:cNvPr id="22" name="Text 20"/>
          <p:cNvSpPr/>
          <p:nvPr/>
        </p:nvSpPr>
        <p:spPr>
          <a:xfrm>
            <a:off x="960120" y="3355848"/>
            <a:ext cx="3429000" cy="841248"/>
          </a:xfrm>
          <a:prstGeom prst="rect">
            <a:avLst/>
          </a:prstGeom>
          <a:noFill/>
          <a:ln/>
        </p:spPr>
        <p:txBody>
          <a:bodyPr wrap="square" lIns="0" tIns="0" rIns="0" bIns="0" rtlCol="0" anchor="t"/>
          <a:lstStyle/>
          <a:p>
            <a:pPr marL="0" indent="0">
              <a:buNone/>
            </a:pPr>
            <a:r>
              <a:rPr lang="en-US" sz="950" dirty="0">
                <a:solidFill>
                  <a:srgbClr val="46494C"/>
                </a:solidFill>
                <a:latin typeface="Consolas" pitchFamily="34" charset="0"/>
                <a:ea typeface="Consolas" pitchFamily="34" charset="-122"/>
                <a:cs typeface="Consolas" pitchFamily="34" charset="-120"/>
              </a:rPr>
              <a:t>CAR[+2,+5] = α + β₁Q5 + β₂CAR[−1,+1] + β₃(Q5 × CAR[−1,+1]) + γSUE + …</a:t>
            </a:r>
            <a:endParaRPr lang="en-US" sz="950" dirty="0"/>
          </a:p>
        </p:txBody>
      </p:sp>
      <p:sp>
        <p:nvSpPr>
          <p:cNvPr id="23" name="Shape 21"/>
          <p:cNvSpPr/>
          <p:nvPr/>
        </p:nvSpPr>
        <p:spPr>
          <a:xfrm>
            <a:off x="960120" y="4215384"/>
            <a:ext cx="3401568" cy="36576"/>
          </a:xfrm>
          <a:prstGeom prst="rect">
            <a:avLst/>
          </a:prstGeom>
          <a:solidFill>
            <a:srgbClr val="C5C3C6"/>
          </a:solidFill>
          <a:ln w="12700">
            <a:solidFill>
              <a:srgbClr val="C5C3C6"/>
            </a:solidFill>
            <a:prstDash val="solid"/>
          </a:ln>
        </p:spPr>
        <p:txBody>
          <a:bodyPr/>
          <a:lstStyle/>
          <a:p>
            <a:endParaRPr lang="en-US"/>
          </a:p>
        </p:txBody>
      </p:sp>
      <p:sp>
        <p:nvSpPr>
          <p:cNvPr id="24" name="Text 22"/>
          <p:cNvSpPr/>
          <p:nvPr/>
        </p:nvSpPr>
        <p:spPr>
          <a:xfrm>
            <a:off x="960120" y="4288536"/>
            <a:ext cx="3401568" cy="438912"/>
          </a:xfrm>
          <a:prstGeom prst="rect">
            <a:avLst/>
          </a:prstGeom>
          <a:noFill/>
          <a:ln/>
        </p:spPr>
        <p:txBody>
          <a:bodyPr wrap="square" lIns="0" tIns="0" rIns="0" bIns="0" rtlCol="0" anchor="t"/>
          <a:lstStyle/>
          <a:p>
            <a:pPr marL="0" indent="0">
              <a:buNone/>
            </a:pPr>
            <a:r>
              <a:rPr lang="en-US" sz="1000" i="1" dirty="0">
                <a:solidFill>
                  <a:srgbClr val="C5C3C6"/>
                </a:solidFill>
                <a:latin typeface="Calibri" pitchFamily="34" charset="0"/>
                <a:ea typeface="Calibri" pitchFamily="34" charset="-122"/>
                <a:cs typeface="Calibri" pitchFamily="34" charset="-120"/>
              </a:rPr>
              <a:t>β₃ &lt; 0: high-novelty firms with large initial moves show stronger reversal.</a:t>
            </a:r>
            <a:endParaRPr lang="en-US" sz="1000" dirty="0"/>
          </a:p>
        </p:txBody>
      </p:sp>
      <p:sp>
        <p:nvSpPr>
          <p:cNvPr id="25" name="Shape 23"/>
          <p:cNvSpPr/>
          <p:nvPr/>
        </p:nvSpPr>
        <p:spPr>
          <a:xfrm>
            <a:off x="4709160" y="2898648"/>
            <a:ext cx="4206240" cy="1938528"/>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6" name="Shape 24"/>
          <p:cNvSpPr/>
          <p:nvPr/>
        </p:nvSpPr>
        <p:spPr>
          <a:xfrm>
            <a:off x="4709160" y="2898648"/>
            <a:ext cx="594360" cy="1938528"/>
          </a:xfrm>
          <a:prstGeom prst="rect">
            <a:avLst/>
          </a:prstGeom>
          <a:solidFill>
            <a:srgbClr val="4C5C68"/>
          </a:solidFill>
          <a:ln w="12700">
            <a:solidFill>
              <a:srgbClr val="4C5C68"/>
            </a:solidFill>
            <a:prstDash val="solid"/>
          </a:ln>
        </p:spPr>
        <p:txBody>
          <a:bodyPr/>
          <a:lstStyle/>
          <a:p>
            <a:endParaRPr lang="en-US"/>
          </a:p>
        </p:txBody>
      </p:sp>
      <p:sp>
        <p:nvSpPr>
          <p:cNvPr id="27" name="Text 25"/>
          <p:cNvSpPr/>
          <p:nvPr/>
        </p:nvSpPr>
        <p:spPr>
          <a:xfrm>
            <a:off x="4709160" y="2898648"/>
            <a:ext cx="594360" cy="193852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M4</a:t>
            </a:r>
            <a:endParaRPr lang="en-US" sz="1500" dirty="0"/>
          </a:p>
        </p:txBody>
      </p:sp>
      <p:sp>
        <p:nvSpPr>
          <p:cNvPr id="28" name="Text 26"/>
          <p:cNvSpPr/>
          <p:nvPr/>
        </p:nvSpPr>
        <p:spPr>
          <a:xfrm>
            <a:off x="5394960" y="2990088"/>
            <a:ext cx="3401568" cy="347472"/>
          </a:xfrm>
          <a:prstGeom prst="rect">
            <a:avLst/>
          </a:prstGeom>
          <a:noFill/>
          <a:ln/>
        </p:spPr>
        <p:txBody>
          <a:bodyPr wrap="square" lIns="0" tIns="0" rIns="0" bIns="0" rtlCol="0" anchor="ctr"/>
          <a:lstStyle/>
          <a:p>
            <a:pPr marL="0" indent="0">
              <a:buNone/>
            </a:pPr>
            <a:r>
              <a:rPr lang="en-US" sz="1250" b="1" dirty="0">
                <a:solidFill>
                  <a:srgbClr val="4C5C68"/>
                </a:solidFill>
                <a:latin typeface="Trebuchet MS" pitchFamily="34" charset="0"/>
                <a:ea typeface="Trebuchet MS" pitchFamily="34" charset="-122"/>
                <a:cs typeface="Trebuchet MS" pitchFamily="34" charset="-120"/>
              </a:rPr>
              <a:t>Pre-Priced Novelty</a:t>
            </a:r>
            <a:endParaRPr lang="en-US" sz="1250" dirty="0"/>
          </a:p>
        </p:txBody>
      </p:sp>
      <p:sp>
        <p:nvSpPr>
          <p:cNvPr id="29" name="Text 27"/>
          <p:cNvSpPr/>
          <p:nvPr/>
        </p:nvSpPr>
        <p:spPr>
          <a:xfrm>
            <a:off x="5394960" y="3355848"/>
            <a:ext cx="3429000" cy="841248"/>
          </a:xfrm>
          <a:prstGeom prst="rect">
            <a:avLst/>
          </a:prstGeom>
          <a:noFill/>
          <a:ln/>
        </p:spPr>
        <p:txBody>
          <a:bodyPr wrap="square" lIns="0" tIns="0" rIns="0" bIns="0" rtlCol="0" anchor="t"/>
          <a:lstStyle/>
          <a:p>
            <a:pPr marL="0" indent="0">
              <a:buNone/>
            </a:pPr>
            <a:r>
              <a:rPr lang="en-US" sz="950" dirty="0">
                <a:solidFill>
                  <a:srgbClr val="46494C"/>
                </a:solidFill>
                <a:latin typeface="Consolas" pitchFamily="34" charset="0"/>
                <a:ea typeface="Consolas" pitchFamily="34" charset="-122"/>
                <a:cs typeface="Consolas" pitchFamily="34" charset="-120"/>
              </a:rPr>
              <a:t>CAR[−1,+1] = α + β₁NovScore + β₂|pre_drift| + β₃(NovScore × |pre_drift|) + γSUE + …</a:t>
            </a:r>
            <a:endParaRPr lang="en-US" sz="950" dirty="0"/>
          </a:p>
        </p:txBody>
      </p:sp>
      <p:sp>
        <p:nvSpPr>
          <p:cNvPr id="30" name="Shape 28"/>
          <p:cNvSpPr/>
          <p:nvPr/>
        </p:nvSpPr>
        <p:spPr>
          <a:xfrm>
            <a:off x="5394960" y="4215384"/>
            <a:ext cx="3401568" cy="36576"/>
          </a:xfrm>
          <a:prstGeom prst="rect">
            <a:avLst/>
          </a:prstGeom>
          <a:solidFill>
            <a:srgbClr val="C5C3C6"/>
          </a:solidFill>
          <a:ln w="12700">
            <a:solidFill>
              <a:srgbClr val="C5C3C6"/>
            </a:solidFill>
            <a:prstDash val="solid"/>
          </a:ln>
        </p:spPr>
        <p:txBody>
          <a:bodyPr/>
          <a:lstStyle/>
          <a:p>
            <a:endParaRPr lang="en-US"/>
          </a:p>
        </p:txBody>
      </p:sp>
      <p:sp>
        <p:nvSpPr>
          <p:cNvPr id="31" name="Text 29"/>
          <p:cNvSpPr/>
          <p:nvPr/>
        </p:nvSpPr>
        <p:spPr>
          <a:xfrm>
            <a:off x="5394960" y="4288536"/>
            <a:ext cx="3401568" cy="438912"/>
          </a:xfrm>
          <a:prstGeom prst="rect">
            <a:avLst/>
          </a:prstGeom>
          <a:noFill/>
          <a:ln/>
        </p:spPr>
        <p:txBody>
          <a:bodyPr wrap="square" lIns="0" tIns="0" rIns="0" bIns="0" rtlCol="0" anchor="t"/>
          <a:lstStyle/>
          <a:p>
            <a:pPr marL="0" indent="0">
              <a:buNone/>
            </a:pPr>
            <a:r>
              <a:rPr lang="en-US" sz="1000" i="1" dirty="0">
                <a:solidFill>
                  <a:srgbClr val="C5C3C6"/>
                </a:solidFill>
                <a:latin typeface="Calibri" pitchFamily="34" charset="0"/>
                <a:ea typeface="Calibri" pitchFamily="34" charset="-122"/>
                <a:cs typeface="Calibri" pitchFamily="34" charset="-120"/>
              </a:rPr>
              <a:t>β₃ &lt; 0: novelty effect attenuated when market has already moved pre-call.</a:t>
            </a:r>
            <a:endParaRPr lang="en-US" sz="1000" dirty="0"/>
          </a:p>
        </p:txBody>
      </p:sp>
      <p:sp>
        <p:nvSpPr>
          <p:cNvPr id="32" name="Shape 30"/>
          <p:cNvSpPr/>
          <p:nvPr/>
        </p:nvSpPr>
        <p:spPr>
          <a:xfrm>
            <a:off x="274320" y="4736592"/>
            <a:ext cx="8595360" cy="292608"/>
          </a:xfrm>
          <a:prstGeom prst="rect">
            <a:avLst/>
          </a:prstGeom>
          <a:solidFill>
            <a:srgbClr val="DCDCDD"/>
          </a:solidFill>
          <a:ln w="12700">
            <a:solidFill>
              <a:srgbClr val="C5C3C6"/>
            </a:solidFill>
            <a:prstDash val="solid"/>
          </a:ln>
        </p:spPr>
        <p:txBody>
          <a:bodyPr/>
          <a:lstStyle/>
          <a:p>
            <a:endParaRPr lang="en-US"/>
          </a:p>
        </p:txBody>
      </p:sp>
      <p:sp>
        <p:nvSpPr>
          <p:cNvPr id="33" name="Text 31"/>
          <p:cNvSpPr/>
          <p:nvPr/>
        </p:nvSpPr>
        <p:spPr>
          <a:xfrm>
            <a:off x="411480" y="4754880"/>
            <a:ext cx="8321040" cy="228600"/>
          </a:xfrm>
          <a:prstGeom prst="rect">
            <a:avLst/>
          </a:prstGeom>
          <a:noFill/>
          <a:ln/>
        </p:spPr>
        <p:txBody>
          <a:bodyPr wrap="square" lIns="0" tIns="0" rIns="0" bIns="0" rtlCol="0" anchor="ctr"/>
          <a:lstStyle/>
          <a:p>
            <a:pPr marL="0" indent="0">
              <a:buNone/>
            </a:pPr>
            <a:r>
              <a:rPr lang="en-US" sz="950" dirty="0">
                <a:solidFill>
                  <a:srgbClr val="46494C"/>
                </a:solidFill>
                <a:latin typeface="Calibri" pitchFamily="34" charset="0"/>
                <a:ea typeface="Calibri" pitchFamily="34" charset="-122"/>
                <a:cs typeface="Calibri" pitchFamily="34" charset="-120"/>
              </a:rPr>
              <a:t>Controls across all models: SUE · close_to_open · log_mktcap · book_to_market · analyst_coverage · log_word_count · pre_drift · qa_ratio · Quarter FE · Year FE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C5C68"/>
          </a:solidFill>
          <a:ln w="12700">
            <a:solidFill>
              <a:srgbClr val="4C5C68"/>
            </a:solidFill>
            <a:prstDash val="solid"/>
          </a:ln>
        </p:spPr>
        <p:txBody>
          <a:bodyPr/>
          <a:lstStyle/>
          <a:p>
            <a:endParaRPr lang="en-US"/>
          </a:p>
        </p:txBody>
      </p:sp>
      <p:sp>
        <p:nvSpPr>
          <p:cNvPr id="3" name="Text 1"/>
          <p:cNvSpPr/>
          <p:nvPr/>
        </p:nvSpPr>
        <p:spPr>
          <a:xfrm>
            <a:off x="411480" y="54864"/>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Identification Strategy &amp; Key Challenges</a:t>
            </a:r>
            <a:endParaRPr lang="en-US" sz="2200" dirty="0"/>
          </a:p>
        </p:txBody>
      </p:sp>
      <p:sp>
        <p:nvSpPr>
          <p:cNvPr id="4" name="Shape 2"/>
          <p:cNvSpPr/>
          <p:nvPr/>
        </p:nvSpPr>
        <p:spPr>
          <a:xfrm>
            <a:off x="274320" y="777240"/>
            <a:ext cx="2697480" cy="18288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74320" y="777240"/>
            <a:ext cx="2697480" cy="91440"/>
          </a:xfrm>
          <a:prstGeom prst="rect">
            <a:avLst/>
          </a:prstGeom>
          <a:solidFill>
            <a:srgbClr val="4C5C68"/>
          </a:solidFill>
          <a:ln w="12700">
            <a:solidFill>
              <a:srgbClr val="4C5C68"/>
            </a:solidFill>
            <a:prstDash val="solid"/>
          </a:ln>
        </p:spPr>
        <p:txBody>
          <a:bodyPr/>
          <a:lstStyle/>
          <a:p>
            <a:endParaRPr lang="en-US"/>
          </a:p>
        </p:txBody>
      </p:sp>
      <p:sp>
        <p:nvSpPr>
          <p:cNvPr id="6" name="Text 4"/>
          <p:cNvSpPr/>
          <p:nvPr/>
        </p:nvSpPr>
        <p:spPr>
          <a:xfrm>
            <a:off x="411480" y="914400"/>
            <a:ext cx="2423160" cy="411480"/>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Omitted Variable Bias</a:t>
            </a:r>
            <a:endParaRPr lang="en-US" sz="1200" dirty="0"/>
          </a:p>
        </p:txBody>
      </p:sp>
      <p:sp>
        <p:nvSpPr>
          <p:cNvPr id="7" name="Text 5"/>
          <p:cNvSpPr/>
          <p:nvPr/>
        </p:nvSpPr>
        <p:spPr>
          <a:xfrm>
            <a:off x="411480" y="1307592"/>
            <a:ext cx="2423160" cy="1188720"/>
          </a:xfrm>
          <a:prstGeom prst="rect">
            <a:avLst/>
          </a:prstGeom>
          <a:noFill/>
          <a:ln/>
        </p:spPr>
        <p:txBody>
          <a:bodyPr wrap="square" lIns="0" tIns="0" rIns="0" bIns="0" rtlCol="0" anchor="t"/>
          <a:lstStyle/>
          <a:p>
            <a:pPr marL="0" indent="0">
              <a:buNone/>
            </a:pPr>
            <a:r>
              <a:rPr lang="en-US" sz="1100" dirty="0">
                <a:solidFill>
                  <a:srgbClr val="46494C"/>
                </a:solidFill>
                <a:latin typeface="Calibri" pitchFamily="34" charset="0"/>
                <a:ea typeface="Calibri" pitchFamily="34" charset="-122"/>
                <a:cs typeface="Calibri" pitchFamily="34" charset="-120"/>
              </a:rPr>
              <a:t>Novelty may correlate with size, growth, and industry. Mitigated by quarter/year FEs, and direct controls for market cap, book-to-market, and analyst coverage.</a:t>
            </a:r>
            <a:endParaRPr lang="en-US" sz="1100" dirty="0"/>
          </a:p>
        </p:txBody>
      </p:sp>
      <p:sp>
        <p:nvSpPr>
          <p:cNvPr id="8" name="Shape 6"/>
          <p:cNvSpPr/>
          <p:nvPr/>
        </p:nvSpPr>
        <p:spPr>
          <a:xfrm>
            <a:off x="3154680" y="777240"/>
            <a:ext cx="2697480" cy="18288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9" name="Shape 7"/>
          <p:cNvSpPr/>
          <p:nvPr/>
        </p:nvSpPr>
        <p:spPr>
          <a:xfrm>
            <a:off x="3154680" y="777240"/>
            <a:ext cx="2697480" cy="91440"/>
          </a:xfrm>
          <a:prstGeom prst="rect">
            <a:avLst/>
          </a:prstGeom>
          <a:solidFill>
            <a:srgbClr val="1985A1"/>
          </a:solidFill>
          <a:ln w="12700">
            <a:solidFill>
              <a:srgbClr val="1985A1"/>
            </a:solidFill>
            <a:prstDash val="solid"/>
          </a:ln>
        </p:spPr>
        <p:txBody>
          <a:bodyPr/>
          <a:lstStyle/>
          <a:p>
            <a:endParaRPr lang="en-US"/>
          </a:p>
        </p:txBody>
      </p:sp>
      <p:sp>
        <p:nvSpPr>
          <p:cNvPr id="10" name="Text 8"/>
          <p:cNvSpPr/>
          <p:nvPr/>
        </p:nvSpPr>
        <p:spPr>
          <a:xfrm>
            <a:off x="3291840" y="914400"/>
            <a:ext cx="2423160" cy="411480"/>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Simultaneity</a:t>
            </a:r>
            <a:endParaRPr lang="en-US" sz="1200" dirty="0"/>
          </a:p>
        </p:txBody>
      </p:sp>
      <p:sp>
        <p:nvSpPr>
          <p:cNvPr id="11" name="Text 9"/>
          <p:cNvSpPr/>
          <p:nvPr/>
        </p:nvSpPr>
        <p:spPr>
          <a:xfrm>
            <a:off x="3291840" y="1307592"/>
            <a:ext cx="2423160" cy="1188720"/>
          </a:xfrm>
          <a:prstGeom prst="rect">
            <a:avLst/>
          </a:prstGeom>
          <a:noFill/>
          <a:ln/>
        </p:spPr>
        <p:txBody>
          <a:bodyPr wrap="square" lIns="0" tIns="0" rIns="0" bIns="0" rtlCol="0" anchor="t"/>
          <a:lstStyle/>
          <a:p>
            <a:pPr marL="0" indent="0">
              <a:buNone/>
            </a:pPr>
            <a:r>
              <a:rPr lang="en-US" sz="1100" dirty="0">
                <a:solidFill>
                  <a:srgbClr val="46494C"/>
                </a:solidFill>
                <a:latin typeface="Calibri" pitchFamily="34" charset="0"/>
                <a:ea typeface="Calibri" pitchFamily="34" charset="-122"/>
                <a:cs typeface="Calibri" pitchFamily="34" charset="-120"/>
              </a:rPr>
              <a:t>Novelty is measured from the same event generating returns. Rolling historical baseline isolates novelty as deviation from prior-period language — text is produced before market reacts.</a:t>
            </a:r>
            <a:endParaRPr lang="en-US" sz="1100" dirty="0"/>
          </a:p>
        </p:txBody>
      </p:sp>
      <p:sp>
        <p:nvSpPr>
          <p:cNvPr id="12" name="Shape 10"/>
          <p:cNvSpPr/>
          <p:nvPr/>
        </p:nvSpPr>
        <p:spPr>
          <a:xfrm>
            <a:off x="6035040" y="777240"/>
            <a:ext cx="2697480" cy="18288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1"/>
          <p:cNvSpPr/>
          <p:nvPr/>
        </p:nvSpPr>
        <p:spPr>
          <a:xfrm>
            <a:off x="6035040" y="777240"/>
            <a:ext cx="2697480" cy="91440"/>
          </a:xfrm>
          <a:prstGeom prst="rect">
            <a:avLst/>
          </a:prstGeom>
          <a:solidFill>
            <a:srgbClr val="4C5C68"/>
          </a:solidFill>
          <a:ln w="12700">
            <a:solidFill>
              <a:srgbClr val="4C5C68"/>
            </a:solidFill>
            <a:prstDash val="solid"/>
          </a:ln>
        </p:spPr>
        <p:txBody>
          <a:bodyPr/>
          <a:lstStyle/>
          <a:p>
            <a:endParaRPr lang="en-US"/>
          </a:p>
        </p:txBody>
      </p:sp>
      <p:sp>
        <p:nvSpPr>
          <p:cNvPr id="14" name="Text 12"/>
          <p:cNvSpPr/>
          <p:nvPr/>
        </p:nvSpPr>
        <p:spPr>
          <a:xfrm>
            <a:off x="6172200" y="914400"/>
            <a:ext cx="2423160" cy="411480"/>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Selection Bias</a:t>
            </a:r>
            <a:endParaRPr lang="en-US" sz="1200" dirty="0"/>
          </a:p>
        </p:txBody>
      </p:sp>
      <p:sp>
        <p:nvSpPr>
          <p:cNvPr id="15" name="Text 13"/>
          <p:cNvSpPr/>
          <p:nvPr/>
        </p:nvSpPr>
        <p:spPr>
          <a:xfrm>
            <a:off x="6172200" y="1307592"/>
            <a:ext cx="2423160" cy="1188720"/>
          </a:xfrm>
          <a:prstGeom prst="rect">
            <a:avLst/>
          </a:prstGeom>
          <a:noFill/>
          <a:ln/>
        </p:spPr>
        <p:txBody>
          <a:bodyPr wrap="square" lIns="0" tIns="0" rIns="0" bIns="0" rtlCol="0" anchor="t"/>
          <a:lstStyle/>
          <a:p>
            <a:pPr marL="0" indent="0">
              <a:buNone/>
            </a:pPr>
            <a:r>
              <a:rPr lang="en-US" sz="1100" dirty="0">
                <a:solidFill>
                  <a:srgbClr val="46494C"/>
                </a:solidFill>
                <a:latin typeface="Calibri" pitchFamily="34" charset="0"/>
                <a:ea typeface="Calibri" pitchFamily="34" charset="-122"/>
                <a:cs typeface="Calibri" pitchFamily="34" charset="-120"/>
              </a:rPr>
              <a:t>Pipeline scores ALL firms, not just high-novelty ones. Quintile assignment is within-quarter cross-sectional, so even Q1 firms contribute to identification.</a:t>
            </a:r>
            <a:endParaRPr lang="en-US" sz="1100" dirty="0"/>
          </a:p>
        </p:txBody>
      </p:sp>
      <p:sp>
        <p:nvSpPr>
          <p:cNvPr id="16" name="Shape 14"/>
          <p:cNvSpPr/>
          <p:nvPr/>
        </p:nvSpPr>
        <p:spPr>
          <a:xfrm>
            <a:off x="274320" y="2788920"/>
            <a:ext cx="2697480" cy="18288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5"/>
          <p:cNvSpPr/>
          <p:nvPr/>
        </p:nvSpPr>
        <p:spPr>
          <a:xfrm>
            <a:off x="274320" y="2788920"/>
            <a:ext cx="2697480" cy="91440"/>
          </a:xfrm>
          <a:prstGeom prst="rect">
            <a:avLst/>
          </a:prstGeom>
          <a:solidFill>
            <a:srgbClr val="1985A1"/>
          </a:solidFill>
          <a:ln w="12700">
            <a:solidFill>
              <a:srgbClr val="1985A1"/>
            </a:solidFill>
            <a:prstDash val="solid"/>
          </a:ln>
        </p:spPr>
        <p:txBody>
          <a:bodyPr/>
          <a:lstStyle/>
          <a:p>
            <a:endParaRPr lang="en-US"/>
          </a:p>
        </p:txBody>
      </p:sp>
      <p:sp>
        <p:nvSpPr>
          <p:cNvPr id="18" name="Text 16"/>
          <p:cNvSpPr/>
          <p:nvPr/>
        </p:nvSpPr>
        <p:spPr>
          <a:xfrm>
            <a:off x="411480" y="2926080"/>
            <a:ext cx="2423160" cy="411480"/>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Pre-Priced Novelty</a:t>
            </a:r>
            <a:endParaRPr lang="en-US" sz="1200" dirty="0"/>
          </a:p>
        </p:txBody>
      </p:sp>
      <p:sp>
        <p:nvSpPr>
          <p:cNvPr id="19" name="Text 17"/>
          <p:cNvSpPr/>
          <p:nvPr/>
        </p:nvSpPr>
        <p:spPr>
          <a:xfrm>
            <a:off x="411480" y="3319272"/>
            <a:ext cx="2423160" cy="1188720"/>
          </a:xfrm>
          <a:prstGeom prst="rect">
            <a:avLst/>
          </a:prstGeom>
          <a:noFill/>
          <a:ln/>
        </p:spPr>
        <p:txBody>
          <a:bodyPr wrap="square" lIns="0" tIns="0" rIns="0" bIns="0" rtlCol="0" anchor="t"/>
          <a:lstStyle/>
          <a:p>
            <a:pPr marL="0" indent="0">
              <a:buNone/>
            </a:pPr>
            <a:r>
              <a:rPr lang="en-US" sz="1100" dirty="0">
                <a:solidFill>
                  <a:srgbClr val="46494C"/>
                </a:solidFill>
                <a:latin typeface="Calibri" pitchFamily="34" charset="0"/>
                <a:ea typeface="Calibri" pitchFamily="34" charset="-122"/>
                <a:cs typeface="Calibri" pitchFamily="34" charset="-120"/>
              </a:rPr>
              <a:t>Content flagged as novel may already be priced via press releases / 8-Ks. Addressed via: pre_drift control, Model 4 interaction term, topic depth filter, and analyst attention filter.</a:t>
            </a:r>
            <a:endParaRPr lang="en-US" sz="1100" dirty="0"/>
          </a:p>
        </p:txBody>
      </p:sp>
      <p:sp>
        <p:nvSpPr>
          <p:cNvPr id="20" name="Shape 18"/>
          <p:cNvSpPr/>
          <p:nvPr/>
        </p:nvSpPr>
        <p:spPr>
          <a:xfrm>
            <a:off x="3154680" y="2788920"/>
            <a:ext cx="2697480" cy="18288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1" name="Shape 19"/>
          <p:cNvSpPr/>
          <p:nvPr/>
        </p:nvSpPr>
        <p:spPr>
          <a:xfrm>
            <a:off x="3154680" y="2788920"/>
            <a:ext cx="2697480" cy="91440"/>
          </a:xfrm>
          <a:prstGeom prst="rect">
            <a:avLst/>
          </a:prstGeom>
          <a:solidFill>
            <a:srgbClr val="4C5C68"/>
          </a:solidFill>
          <a:ln w="12700">
            <a:solidFill>
              <a:srgbClr val="4C5C68"/>
            </a:solidFill>
            <a:prstDash val="solid"/>
          </a:ln>
        </p:spPr>
        <p:txBody>
          <a:bodyPr/>
          <a:lstStyle/>
          <a:p>
            <a:endParaRPr lang="en-US"/>
          </a:p>
        </p:txBody>
      </p:sp>
      <p:sp>
        <p:nvSpPr>
          <p:cNvPr id="22" name="Text 20"/>
          <p:cNvSpPr/>
          <p:nvPr/>
        </p:nvSpPr>
        <p:spPr>
          <a:xfrm>
            <a:off x="3291840" y="2926080"/>
            <a:ext cx="2423160" cy="411480"/>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Cross-Sectional Dependence</a:t>
            </a:r>
            <a:endParaRPr lang="en-US" sz="1200" dirty="0"/>
          </a:p>
        </p:txBody>
      </p:sp>
      <p:sp>
        <p:nvSpPr>
          <p:cNvPr id="23" name="Text 21"/>
          <p:cNvSpPr/>
          <p:nvPr/>
        </p:nvSpPr>
        <p:spPr>
          <a:xfrm>
            <a:off x="3291840" y="3319272"/>
            <a:ext cx="2423160" cy="1188720"/>
          </a:xfrm>
          <a:prstGeom prst="rect">
            <a:avLst/>
          </a:prstGeom>
          <a:noFill/>
          <a:ln/>
        </p:spPr>
        <p:txBody>
          <a:bodyPr wrap="square" lIns="0" tIns="0" rIns="0" bIns="0" rtlCol="0" anchor="t"/>
          <a:lstStyle/>
          <a:p>
            <a:pPr marL="0" indent="0">
              <a:buNone/>
            </a:pPr>
            <a:r>
              <a:rPr lang="en-US" sz="1100" dirty="0">
                <a:solidFill>
                  <a:srgbClr val="46494C"/>
                </a:solidFill>
                <a:latin typeface="Calibri" pitchFamily="34" charset="0"/>
                <a:ea typeface="Calibri" pitchFamily="34" charset="-122"/>
                <a:cs typeface="Calibri" pitchFamily="34" charset="-120"/>
              </a:rPr>
              <a:t>Many firms report earnings on the same day, creating correlated residuals. Standard errors clustered by calendar date throughout all regression specifications.</a:t>
            </a:r>
            <a:endParaRPr lang="en-US" sz="1100" dirty="0"/>
          </a:p>
        </p:txBody>
      </p:sp>
      <p:sp>
        <p:nvSpPr>
          <p:cNvPr id="24" name="Shape 22"/>
          <p:cNvSpPr/>
          <p:nvPr/>
        </p:nvSpPr>
        <p:spPr>
          <a:xfrm>
            <a:off x="6035040" y="2788920"/>
            <a:ext cx="2697480" cy="1828800"/>
          </a:xfrm>
          <a:prstGeom prst="rect">
            <a:avLst/>
          </a:prstGeom>
          <a:solidFill>
            <a:srgbClr val="FFFFFF"/>
          </a:solidFill>
          <a:ln w="12700">
            <a:solidFill>
              <a:srgbClr val="C5C3C6"/>
            </a:solidFill>
            <a:prstDash val="solid"/>
          </a:ln>
          <a:effectLst>
            <a:outerShdw blurRad="101600" dist="25400" dir="8100000" algn="bl" rotWithShape="0">
              <a:srgbClr val="000000">
                <a:alpha val="12000"/>
              </a:srgbClr>
            </a:outerShdw>
          </a:effectLst>
        </p:spPr>
        <p:txBody>
          <a:bodyPr/>
          <a:lstStyle/>
          <a:p>
            <a:endParaRPr lang="en-US"/>
          </a:p>
        </p:txBody>
      </p:sp>
      <p:sp>
        <p:nvSpPr>
          <p:cNvPr id="25" name="Shape 23"/>
          <p:cNvSpPr/>
          <p:nvPr/>
        </p:nvSpPr>
        <p:spPr>
          <a:xfrm>
            <a:off x="6035040" y="2788920"/>
            <a:ext cx="2697480" cy="91440"/>
          </a:xfrm>
          <a:prstGeom prst="rect">
            <a:avLst/>
          </a:prstGeom>
          <a:solidFill>
            <a:srgbClr val="C5C3C6"/>
          </a:solidFill>
          <a:ln w="12700">
            <a:solidFill>
              <a:srgbClr val="C5C3C6"/>
            </a:solidFill>
            <a:prstDash val="solid"/>
          </a:ln>
        </p:spPr>
        <p:txBody>
          <a:bodyPr/>
          <a:lstStyle/>
          <a:p>
            <a:endParaRPr lang="en-US"/>
          </a:p>
        </p:txBody>
      </p:sp>
      <p:sp>
        <p:nvSpPr>
          <p:cNvPr id="26" name="Text 24"/>
          <p:cNvSpPr/>
          <p:nvPr/>
        </p:nvSpPr>
        <p:spPr>
          <a:xfrm>
            <a:off x="6172200" y="2926080"/>
            <a:ext cx="2423160" cy="411480"/>
          </a:xfrm>
          <a:prstGeom prst="rect">
            <a:avLst/>
          </a:prstGeom>
          <a:noFill/>
          <a:ln/>
        </p:spPr>
        <p:txBody>
          <a:bodyPr wrap="square" lIns="0" tIns="0" rIns="0" bIns="0" rtlCol="0" anchor="ctr"/>
          <a:lstStyle/>
          <a:p>
            <a:pPr marL="0" indent="0">
              <a:buNone/>
            </a:pPr>
            <a:r>
              <a:rPr lang="en-US" sz="1200" b="1" dirty="0">
                <a:solidFill>
                  <a:srgbClr val="4C5C68"/>
                </a:solidFill>
                <a:latin typeface="Trebuchet MS" pitchFamily="34" charset="0"/>
                <a:ea typeface="Trebuchet MS" pitchFamily="34" charset="-122"/>
                <a:cs typeface="Trebuchet MS" pitchFamily="34" charset="-120"/>
              </a:rPr>
              <a:t>Future Extension: 8-K Match</a:t>
            </a:r>
            <a:endParaRPr lang="en-US" sz="1200" dirty="0"/>
          </a:p>
        </p:txBody>
      </p:sp>
      <p:sp>
        <p:nvSpPr>
          <p:cNvPr id="27" name="Text 25"/>
          <p:cNvSpPr/>
          <p:nvPr/>
        </p:nvSpPr>
        <p:spPr>
          <a:xfrm>
            <a:off x="6172200" y="3319272"/>
            <a:ext cx="2423160" cy="1188720"/>
          </a:xfrm>
          <a:prstGeom prst="rect">
            <a:avLst/>
          </a:prstGeom>
          <a:noFill/>
          <a:ln/>
        </p:spPr>
        <p:txBody>
          <a:bodyPr wrap="square" lIns="0" tIns="0" rIns="0" bIns="0" rtlCol="0" anchor="t"/>
          <a:lstStyle/>
          <a:p>
            <a:pPr marL="0" indent="0">
              <a:buNone/>
            </a:pPr>
            <a:r>
              <a:rPr lang="en-US" sz="1100" dirty="0">
                <a:solidFill>
                  <a:srgbClr val="46494C"/>
                </a:solidFill>
                <a:latin typeface="Calibri" pitchFamily="34" charset="0"/>
                <a:ea typeface="Calibri" pitchFamily="34" charset="-122"/>
                <a:cs typeface="Calibri" pitchFamily="34" charset="-120"/>
              </a:rPr>
              <a:t>Direct topic-level match between transcript novelty and prior 8-K filings would sharpen pre-pricing identification. Deferred due to data generation scope for 200k+ firm-events.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4C5C68"/>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985A1"/>
          </a:solidFill>
          <a:ln w="12700">
            <a:solidFill>
              <a:srgbClr val="1985A1"/>
            </a:solidFill>
            <a:prstDash val="solid"/>
          </a:ln>
        </p:spPr>
        <p:txBody>
          <a:bodyPr/>
          <a:lstStyle/>
          <a:p>
            <a:endParaRPr lang="en-US"/>
          </a:p>
        </p:txBody>
      </p:sp>
      <p:sp>
        <p:nvSpPr>
          <p:cNvPr id="3" name="Text 1"/>
          <p:cNvSpPr/>
          <p:nvPr/>
        </p:nvSpPr>
        <p:spPr>
          <a:xfrm>
            <a:off x="685800" y="320040"/>
            <a:ext cx="80467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Study Summary</a:t>
            </a:r>
            <a:endParaRPr lang="en-US" sz="2600" dirty="0"/>
          </a:p>
        </p:txBody>
      </p:sp>
      <p:sp>
        <p:nvSpPr>
          <p:cNvPr id="4" name="Shape 2"/>
          <p:cNvSpPr/>
          <p:nvPr/>
        </p:nvSpPr>
        <p:spPr>
          <a:xfrm>
            <a:off x="685800" y="960120"/>
            <a:ext cx="457200" cy="457200"/>
          </a:xfrm>
          <a:prstGeom prst="rect">
            <a:avLst/>
          </a:prstGeom>
          <a:solidFill>
            <a:srgbClr val="1985A1"/>
          </a:solidFill>
          <a:ln w="12700">
            <a:solidFill>
              <a:srgbClr val="1985A1"/>
            </a:solidFill>
            <a:prstDash val="solid"/>
          </a:ln>
        </p:spPr>
        <p:txBody>
          <a:bodyPr/>
          <a:lstStyle/>
          <a:p>
            <a:endParaRPr lang="en-US"/>
          </a:p>
        </p:txBody>
      </p:sp>
      <p:sp>
        <p:nvSpPr>
          <p:cNvPr id="5" name="Text 3"/>
          <p:cNvSpPr/>
          <p:nvPr/>
        </p:nvSpPr>
        <p:spPr>
          <a:xfrm>
            <a:off x="685800" y="960120"/>
            <a:ext cx="45720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①</a:t>
            </a:r>
            <a:endParaRPr lang="en-US" sz="1400" dirty="0"/>
          </a:p>
        </p:txBody>
      </p:sp>
      <p:sp>
        <p:nvSpPr>
          <p:cNvPr id="6" name="Text 4"/>
          <p:cNvSpPr/>
          <p:nvPr/>
        </p:nvSpPr>
        <p:spPr>
          <a:xfrm>
            <a:off x="1261872" y="978408"/>
            <a:ext cx="7543800" cy="658368"/>
          </a:xfrm>
          <a:prstGeom prst="rect">
            <a:avLst/>
          </a:prstGeom>
          <a:noFill/>
          <a:ln/>
        </p:spPr>
        <p:txBody>
          <a:bodyPr wrap="square" lIns="0" tIns="0" rIns="0" bIns="0" rtlCol="0" anchor="t"/>
          <a:lstStyle/>
          <a:p>
            <a:pPr marL="0" indent="0">
              <a:buNone/>
            </a:pPr>
            <a:r>
              <a:rPr lang="en-US" sz="1250" dirty="0">
                <a:solidFill>
                  <a:srgbClr val="DCDCDD"/>
                </a:solidFill>
                <a:latin typeface="Calibri" pitchFamily="34" charset="0"/>
                <a:ea typeface="Calibri" pitchFamily="34" charset="-122"/>
                <a:cs typeface="Calibri" pitchFamily="34" charset="-120"/>
              </a:rPr>
              <a:t>Novel multi-layer NLP pipeline: turn-level semantic novelty (nomic-embed-text-v1.5) + 26-cluster salience filter + local LLM intent gate + sigmoid macro penalty.</a:t>
            </a:r>
            <a:endParaRPr lang="en-US" sz="1250" dirty="0"/>
          </a:p>
        </p:txBody>
      </p:sp>
      <p:sp>
        <p:nvSpPr>
          <p:cNvPr id="7" name="Shape 5"/>
          <p:cNvSpPr/>
          <p:nvPr/>
        </p:nvSpPr>
        <p:spPr>
          <a:xfrm>
            <a:off x="685800" y="1728216"/>
            <a:ext cx="457200" cy="457200"/>
          </a:xfrm>
          <a:prstGeom prst="rect">
            <a:avLst/>
          </a:prstGeom>
          <a:solidFill>
            <a:srgbClr val="1985A1"/>
          </a:solidFill>
          <a:ln w="12700">
            <a:solidFill>
              <a:srgbClr val="1985A1"/>
            </a:solidFill>
            <a:prstDash val="solid"/>
          </a:ln>
        </p:spPr>
        <p:txBody>
          <a:bodyPr/>
          <a:lstStyle/>
          <a:p>
            <a:endParaRPr lang="en-US"/>
          </a:p>
        </p:txBody>
      </p:sp>
      <p:sp>
        <p:nvSpPr>
          <p:cNvPr id="8" name="Text 6"/>
          <p:cNvSpPr/>
          <p:nvPr/>
        </p:nvSpPr>
        <p:spPr>
          <a:xfrm>
            <a:off x="685800" y="1728216"/>
            <a:ext cx="45720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②</a:t>
            </a:r>
            <a:endParaRPr lang="en-US" sz="1400" dirty="0"/>
          </a:p>
        </p:txBody>
      </p:sp>
      <p:sp>
        <p:nvSpPr>
          <p:cNvPr id="9" name="Text 7"/>
          <p:cNvSpPr/>
          <p:nvPr/>
        </p:nvSpPr>
        <p:spPr>
          <a:xfrm>
            <a:off x="1261872" y="1746504"/>
            <a:ext cx="7543800" cy="658368"/>
          </a:xfrm>
          <a:prstGeom prst="rect">
            <a:avLst/>
          </a:prstGeom>
          <a:noFill/>
          <a:ln/>
        </p:spPr>
        <p:txBody>
          <a:bodyPr wrap="square" lIns="0" tIns="0" rIns="0" bIns="0" rtlCol="0" anchor="t"/>
          <a:lstStyle/>
          <a:p>
            <a:pPr marL="0" indent="0">
              <a:buNone/>
            </a:pPr>
            <a:r>
              <a:rPr lang="en-US" sz="1250" dirty="0">
                <a:solidFill>
                  <a:srgbClr val="DCDCDD"/>
                </a:solidFill>
                <a:latin typeface="Calibri" pitchFamily="34" charset="0"/>
                <a:ea typeface="Calibri" pitchFamily="34" charset="-122"/>
                <a:cs typeface="Calibri" pitchFamily="34" charset="-120"/>
              </a:rPr>
              <a:t>Cross-sectional long-short strategy: Q1 (familiar) minus Q5 (novel), held one quarter, risk-adjusted via Fama-French 5-factor model.</a:t>
            </a:r>
            <a:endParaRPr lang="en-US" sz="1250" dirty="0"/>
          </a:p>
        </p:txBody>
      </p:sp>
      <p:sp>
        <p:nvSpPr>
          <p:cNvPr id="10" name="Shape 8"/>
          <p:cNvSpPr/>
          <p:nvPr/>
        </p:nvSpPr>
        <p:spPr>
          <a:xfrm>
            <a:off x="685800" y="2496312"/>
            <a:ext cx="457200" cy="457200"/>
          </a:xfrm>
          <a:prstGeom prst="rect">
            <a:avLst/>
          </a:prstGeom>
          <a:solidFill>
            <a:srgbClr val="1985A1"/>
          </a:solidFill>
          <a:ln w="12700">
            <a:solidFill>
              <a:srgbClr val="1985A1"/>
            </a:solidFill>
            <a:prstDash val="solid"/>
          </a:ln>
        </p:spPr>
        <p:txBody>
          <a:bodyPr/>
          <a:lstStyle/>
          <a:p>
            <a:endParaRPr lang="en-US"/>
          </a:p>
        </p:txBody>
      </p:sp>
      <p:sp>
        <p:nvSpPr>
          <p:cNvPr id="11" name="Text 9"/>
          <p:cNvSpPr/>
          <p:nvPr/>
        </p:nvSpPr>
        <p:spPr>
          <a:xfrm>
            <a:off x="685800" y="2496312"/>
            <a:ext cx="45720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③</a:t>
            </a:r>
            <a:endParaRPr lang="en-US" sz="1400" dirty="0"/>
          </a:p>
        </p:txBody>
      </p:sp>
      <p:sp>
        <p:nvSpPr>
          <p:cNvPr id="12" name="Text 10"/>
          <p:cNvSpPr/>
          <p:nvPr/>
        </p:nvSpPr>
        <p:spPr>
          <a:xfrm>
            <a:off x="1261872" y="2514600"/>
            <a:ext cx="7543800" cy="658368"/>
          </a:xfrm>
          <a:prstGeom prst="rect">
            <a:avLst/>
          </a:prstGeom>
          <a:noFill/>
          <a:ln/>
        </p:spPr>
        <p:txBody>
          <a:bodyPr wrap="square" lIns="0" tIns="0" rIns="0" bIns="0" rtlCol="0" anchor="t"/>
          <a:lstStyle/>
          <a:p>
            <a:pPr marL="0" indent="0">
              <a:buNone/>
            </a:pPr>
            <a:r>
              <a:rPr lang="en-US" sz="1250" dirty="0">
                <a:solidFill>
                  <a:srgbClr val="DCDCDD"/>
                </a:solidFill>
                <a:latin typeface="Calibri" pitchFamily="34" charset="0"/>
                <a:ea typeface="Calibri" pitchFamily="34" charset="-122"/>
                <a:cs typeface="Calibri" pitchFamily="34" charset="-120"/>
              </a:rPr>
              <a:t>Benchmark: Cohen, Malloy &amp; Nguyen (2020) — 188 bps/month alpha from 10-K language changes. We extend to higher-frequency earnings call transcripts.</a:t>
            </a:r>
            <a:endParaRPr lang="en-US" sz="1250" dirty="0"/>
          </a:p>
        </p:txBody>
      </p:sp>
      <p:sp>
        <p:nvSpPr>
          <p:cNvPr id="13" name="Shape 11"/>
          <p:cNvSpPr/>
          <p:nvPr/>
        </p:nvSpPr>
        <p:spPr>
          <a:xfrm>
            <a:off x="685800" y="3264408"/>
            <a:ext cx="457200" cy="457200"/>
          </a:xfrm>
          <a:prstGeom prst="rect">
            <a:avLst/>
          </a:prstGeom>
          <a:solidFill>
            <a:srgbClr val="1985A1"/>
          </a:solidFill>
          <a:ln w="12700">
            <a:solidFill>
              <a:srgbClr val="1985A1"/>
            </a:solidFill>
            <a:prstDash val="solid"/>
          </a:ln>
        </p:spPr>
        <p:txBody>
          <a:bodyPr/>
          <a:lstStyle/>
          <a:p>
            <a:endParaRPr lang="en-US"/>
          </a:p>
        </p:txBody>
      </p:sp>
      <p:sp>
        <p:nvSpPr>
          <p:cNvPr id="14" name="Text 12"/>
          <p:cNvSpPr/>
          <p:nvPr/>
        </p:nvSpPr>
        <p:spPr>
          <a:xfrm>
            <a:off x="685800" y="3264408"/>
            <a:ext cx="45720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④</a:t>
            </a:r>
            <a:endParaRPr lang="en-US" sz="1400" dirty="0"/>
          </a:p>
        </p:txBody>
      </p:sp>
      <p:sp>
        <p:nvSpPr>
          <p:cNvPr id="15" name="Text 13"/>
          <p:cNvSpPr/>
          <p:nvPr/>
        </p:nvSpPr>
        <p:spPr>
          <a:xfrm>
            <a:off x="1261872" y="3282696"/>
            <a:ext cx="7543800" cy="658368"/>
          </a:xfrm>
          <a:prstGeom prst="rect">
            <a:avLst/>
          </a:prstGeom>
          <a:noFill/>
          <a:ln/>
        </p:spPr>
        <p:txBody>
          <a:bodyPr wrap="square" lIns="0" tIns="0" rIns="0" bIns="0" rtlCol="0" anchor="t"/>
          <a:lstStyle/>
          <a:p>
            <a:pPr marL="0" indent="0">
              <a:buNone/>
            </a:pPr>
            <a:r>
              <a:rPr lang="en-US" sz="1250" dirty="0">
                <a:solidFill>
                  <a:srgbClr val="DCDCDD"/>
                </a:solidFill>
                <a:latin typeface="Calibri" pitchFamily="34" charset="0"/>
                <a:ea typeface="Calibri" pitchFamily="34" charset="-122"/>
                <a:cs typeface="Calibri" pitchFamily="34" charset="-120"/>
              </a:rPr>
              <a:t>Three hypotheses: Overreaction (H1) · Mean Reversion (H2) · Sentiment Interaction (H3). Four regression models testing each mechanism.</a:t>
            </a:r>
            <a:endParaRPr lang="en-US" sz="1250" dirty="0"/>
          </a:p>
        </p:txBody>
      </p:sp>
      <p:sp>
        <p:nvSpPr>
          <p:cNvPr id="16" name="Shape 14"/>
          <p:cNvSpPr/>
          <p:nvPr/>
        </p:nvSpPr>
        <p:spPr>
          <a:xfrm>
            <a:off x="685800" y="4032504"/>
            <a:ext cx="457200" cy="457200"/>
          </a:xfrm>
          <a:prstGeom prst="rect">
            <a:avLst/>
          </a:prstGeom>
          <a:solidFill>
            <a:srgbClr val="1985A1"/>
          </a:solidFill>
          <a:ln w="12700">
            <a:solidFill>
              <a:srgbClr val="1985A1"/>
            </a:solidFill>
            <a:prstDash val="solid"/>
          </a:ln>
        </p:spPr>
        <p:txBody>
          <a:bodyPr/>
          <a:lstStyle/>
          <a:p>
            <a:endParaRPr lang="en-US"/>
          </a:p>
        </p:txBody>
      </p:sp>
      <p:sp>
        <p:nvSpPr>
          <p:cNvPr id="17" name="Text 15"/>
          <p:cNvSpPr/>
          <p:nvPr/>
        </p:nvSpPr>
        <p:spPr>
          <a:xfrm>
            <a:off x="685800" y="4032504"/>
            <a:ext cx="45720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⑤</a:t>
            </a:r>
            <a:endParaRPr lang="en-US" sz="1400" dirty="0"/>
          </a:p>
        </p:txBody>
      </p:sp>
      <p:sp>
        <p:nvSpPr>
          <p:cNvPr id="18" name="Text 16"/>
          <p:cNvSpPr/>
          <p:nvPr/>
        </p:nvSpPr>
        <p:spPr>
          <a:xfrm>
            <a:off x="1261872" y="4050792"/>
            <a:ext cx="7543800" cy="658368"/>
          </a:xfrm>
          <a:prstGeom prst="rect">
            <a:avLst/>
          </a:prstGeom>
          <a:noFill/>
          <a:ln/>
        </p:spPr>
        <p:txBody>
          <a:bodyPr wrap="square" lIns="0" tIns="0" rIns="0" bIns="0" rtlCol="0" anchor="t"/>
          <a:lstStyle/>
          <a:p>
            <a:pPr marL="0" indent="0">
              <a:buNone/>
            </a:pPr>
            <a:r>
              <a:rPr lang="en-US" sz="1250" dirty="0">
                <a:solidFill>
                  <a:srgbClr val="DCDCDD"/>
                </a:solidFill>
                <a:latin typeface="Calibri" pitchFamily="34" charset="0"/>
                <a:ea typeface="Calibri" pitchFamily="34" charset="-122"/>
                <a:cs typeface="Calibri" pitchFamily="34" charset="-120"/>
              </a:rPr>
              <a:t>Dataset: 202,357 earnings calls · 6,867 tickers · April 2005–December 2025 · 185,622 observations with full return windows.</a:t>
            </a:r>
            <a:endParaRPr lang="en-US" sz="1250" dirty="0"/>
          </a:p>
        </p:txBody>
      </p:sp>
      <p:sp>
        <p:nvSpPr>
          <p:cNvPr id="19" name="Shape 17"/>
          <p:cNvSpPr/>
          <p:nvPr/>
        </p:nvSpPr>
        <p:spPr>
          <a:xfrm>
            <a:off x="0" y="4754880"/>
            <a:ext cx="9144000" cy="388620"/>
          </a:xfrm>
          <a:prstGeom prst="rect">
            <a:avLst/>
          </a:prstGeom>
          <a:solidFill>
            <a:srgbClr val="46494C"/>
          </a:solidFill>
          <a:ln w="12700">
            <a:solidFill>
              <a:srgbClr val="46494C"/>
            </a:solidFill>
            <a:prstDash val="solid"/>
          </a:ln>
        </p:spPr>
        <p:txBody>
          <a:bodyPr/>
          <a:lstStyle/>
          <a:p>
            <a:endParaRPr lang="en-US"/>
          </a:p>
        </p:txBody>
      </p:sp>
      <p:sp>
        <p:nvSpPr>
          <p:cNvPr id="20" name="Text 18"/>
          <p:cNvSpPr/>
          <p:nvPr/>
        </p:nvSpPr>
        <p:spPr>
          <a:xfrm>
            <a:off x="457200" y="4782312"/>
            <a:ext cx="8229600" cy="329184"/>
          </a:xfrm>
          <a:prstGeom prst="rect">
            <a:avLst/>
          </a:prstGeom>
          <a:noFill/>
          <a:ln/>
        </p:spPr>
        <p:txBody>
          <a:bodyPr wrap="square" lIns="0" tIns="0" rIns="0" bIns="0" rtlCol="0" anchor="ctr"/>
          <a:lstStyle/>
          <a:p>
            <a:pPr marL="0" indent="0" algn="ctr">
              <a:buNone/>
            </a:pPr>
            <a:r>
              <a:rPr lang="en-US" sz="1050" dirty="0">
                <a:solidFill>
                  <a:srgbClr val="C5C3C6"/>
                </a:solidFill>
                <a:latin typeface="Calibri" pitchFamily="34" charset="0"/>
                <a:ea typeface="Calibri" pitchFamily="34" charset="-122"/>
                <a:cs typeface="Calibri" pitchFamily="34" charset="-120"/>
              </a:rPr>
              <a:t>Zac Garland  ·  Ryota Yokoyama  ·  UT Austin McCombs  ·  FIN 285F  ·  April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1227</TotalTime>
  <Words>2009</Words>
  <Application>Microsoft Macintosh PowerPoint</Application>
  <PresentationFormat>On-screen Show (16:9)</PresentationFormat>
  <Paragraphs>297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Novelty-Driven Mean Reversion</dc:title>
  <dc:subject>PptxGenJS Presentation</dc:subject>
  <dc:creator>PptxGenJS</dc:creator>
  <cp:lastModifiedBy>Garland, Zachary K</cp:lastModifiedBy>
  <cp:revision>2</cp:revision>
  <dcterms:created xsi:type="dcterms:W3CDTF">2026-04-07T00:57:20Z</dcterms:created>
  <dcterms:modified xsi:type="dcterms:W3CDTF">2026-04-07T22:30:11Z</dcterms:modified>
</cp:coreProperties>
</file>